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Inter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L4dCcABQ8VNfywXgbBUPHGQ/8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font" Target="fonts/Inter-regular.fntdata"/><Relationship Id="rId15" Type="http://schemas.openxmlformats.org/officeDocument/2006/relationships/font" Target="fonts/Inter-bold.fntdata"/><Relationship Id="rId16" Type="http://schemas.openxmlformats.org/officeDocument/2006/relationships/font" Target="fonts/Inter-italic.fntdata"/><Relationship Id="rId17" Type="http://schemas.openxmlformats.org/officeDocument/2006/relationships/font" Target="fonts/Inter-boldItalic.fntdata"/><Relationship Id="rId1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701" y="5626101"/>
            <a:ext cx="1536701" cy="12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10602663" y="5964997"/>
            <a:ext cx="13102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LOGO</a:t>
            </a:r>
            <a:endParaRPr/>
          </a:p>
        </p:txBody>
      </p:sp>
      <p:pic>
        <p:nvPicPr>
          <p:cNvPr descr="Logo&#10;&#10;Description automatically generated" id="90" name="Google Shape;9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8591" y="173509"/>
            <a:ext cx="1025712" cy="550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1344" y="169434"/>
            <a:ext cx="803146" cy="4766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838200" y="97277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293F"/>
              </a:buClr>
              <a:buSzPct val="100000"/>
              <a:buFont typeface="Arial"/>
              <a:buNone/>
            </a:pPr>
            <a:r>
              <a:rPr b="0" lang="en-US" sz="2400" u="none">
                <a:solidFill>
                  <a:srgbClr val="EC293F"/>
                </a:solidFill>
                <a:latin typeface="Calibri"/>
                <a:ea typeface="Calibri"/>
                <a:cs typeface="Calibri"/>
                <a:sym typeface="Calibri"/>
              </a:rPr>
              <a:t>INSTRUCTIONS:</a:t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C293F"/>
              </a:buClr>
              <a:buSzPct val="100000"/>
              <a:buFont typeface="Arial"/>
              <a:buNone/>
            </a:pPr>
            <a:r>
              <a:rPr b="1" lang="en-US" sz="2400" u="none">
                <a:solidFill>
                  <a:srgbClr val="EC293F"/>
                </a:solidFill>
                <a:latin typeface="Calibri"/>
                <a:ea typeface="Calibri"/>
                <a:cs typeface="Calibri"/>
                <a:sym typeface="Calibri"/>
              </a:rPr>
              <a:t>DELETE THIS PAGE AFTER PREPARING YOUR PITCH DECK.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2400" u="none">
              <a:solidFill>
                <a:srgbClr val="EC29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C293F"/>
              </a:buClr>
              <a:buSzPct val="100000"/>
              <a:buFont typeface="Arial"/>
              <a:buChar char="•"/>
            </a:pPr>
            <a:r>
              <a:rPr b="0" lang="en-US" sz="2400" u="none">
                <a:solidFill>
                  <a:srgbClr val="EC293F"/>
                </a:solidFill>
                <a:latin typeface="Calibri"/>
                <a:ea typeface="Calibri"/>
                <a:cs typeface="Calibri"/>
                <a:sym typeface="Calibri"/>
              </a:rPr>
              <a:t>Use this template for your preparing your pitch deck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C293F"/>
              </a:buClr>
              <a:buSzPct val="100000"/>
              <a:buFont typeface="Arial"/>
              <a:buChar char="•"/>
            </a:pPr>
            <a:r>
              <a:rPr b="0" lang="en-US" sz="2400" u="none">
                <a:solidFill>
                  <a:srgbClr val="EC293F"/>
                </a:solidFill>
                <a:latin typeface="Calibri"/>
                <a:ea typeface="Calibri"/>
                <a:cs typeface="Calibri"/>
                <a:sym typeface="Calibri"/>
              </a:rPr>
              <a:t>Pitch Deck should address the points indicated from slide 2 to slide 8 (</a:t>
            </a:r>
            <a:r>
              <a:rPr b="0" i="1" lang="en-US" sz="2000" u="none">
                <a:solidFill>
                  <a:srgbClr val="EC293F"/>
                </a:solidFill>
                <a:latin typeface="Calibri"/>
                <a:ea typeface="Calibri"/>
                <a:cs typeface="Calibri"/>
                <a:sym typeface="Calibri"/>
              </a:rPr>
              <a:t>see the </a:t>
            </a:r>
            <a:r>
              <a:rPr b="0" i="1" lang="en-US" sz="2000" u="none">
                <a:solidFill>
                  <a:srgbClr val="EC293F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instruction in each slide</a:t>
            </a:r>
            <a:r>
              <a:rPr b="0" i="1" lang="en-US" sz="2000" u="none">
                <a:solidFill>
                  <a:srgbClr val="EC293F"/>
                </a:solidFill>
                <a:latin typeface="Calibri"/>
                <a:ea typeface="Calibri"/>
                <a:cs typeface="Calibri"/>
                <a:sym typeface="Calibri"/>
              </a:rPr>
              <a:t>, you will have better clarity about the content that should be covered under each point</a:t>
            </a:r>
            <a:r>
              <a:rPr b="0" lang="en-US" sz="2400" u="none">
                <a:solidFill>
                  <a:srgbClr val="EC293F"/>
                </a:solidFill>
                <a:latin typeface="Calibri"/>
                <a:ea typeface="Calibri"/>
                <a:cs typeface="Calibri"/>
                <a:sym typeface="Calibri"/>
              </a:rPr>
              <a:t>) 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sz="2400" u="none">
              <a:solidFill>
                <a:srgbClr val="EC29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C293F"/>
              </a:buClr>
              <a:buSzPct val="100000"/>
              <a:buFont typeface="Arial"/>
              <a:buNone/>
            </a:pPr>
            <a:r>
              <a:rPr b="1" lang="en-US" sz="2400" u="none">
                <a:solidFill>
                  <a:srgbClr val="EC293F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Convert your PowerPoint Slide into PDF format. The file size should not exceed 10MB!</a:t>
            </a:r>
            <a:endParaRPr b="1" sz="2400" u="none">
              <a:solidFill>
                <a:srgbClr val="EC293F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2400" u="none">
              <a:solidFill>
                <a:srgbClr val="EC293F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C293F"/>
              </a:buClr>
              <a:buSzPct val="100000"/>
              <a:buFont typeface="Arial"/>
              <a:buNone/>
            </a:pPr>
            <a:r>
              <a:rPr b="1" lang="en-US" sz="2400" u="none">
                <a:solidFill>
                  <a:srgbClr val="EC293F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rPr>
              <a:t>Rename your pitch deck with your team/startup name while uploading the file into the Google Form!</a:t>
            </a:r>
            <a:endParaRPr b="0" sz="2400" u="none">
              <a:solidFill>
                <a:srgbClr val="EC293F"/>
              </a:solidFill>
              <a:highlight>
                <a:srgbClr val="00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sz="2400" u="none">
              <a:solidFill>
                <a:srgbClr val="EC29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10560676" y="5679584"/>
            <a:ext cx="1378040" cy="940158"/>
            <a:chOff x="10560676" y="5679584"/>
            <a:chExt cx="1378040" cy="940158"/>
          </a:xfrm>
        </p:grpSpPr>
        <p:sp>
          <p:nvSpPr>
            <p:cNvPr id="94" name="Google Shape;94;p1"/>
            <p:cNvSpPr/>
            <p:nvPr/>
          </p:nvSpPr>
          <p:spPr>
            <a:xfrm>
              <a:off x="10560676" y="5679584"/>
              <a:ext cx="1378040" cy="940158"/>
            </a:xfrm>
            <a:prstGeom prst="roundRect">
              <a:avLst>
                <a:gd fmla="val 4667" name="adj"/>
              </a:avLst>
            </a:prstGeom>
            <a:solidFill>
              <a:srgbClr val="ED154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10594548" y="5826497"/>
              <a:ext cx="131029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YOUR LOGO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(if Any)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701" y="5626101"/>
            <a:ext cx="1536701" cy="12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>
            <p:ph type="ctrTitle"/>
          </p:nvPr>
        </p:nvSpPr>
        <p:spPr>
          <a:xfrm>
            <a:off x="1524000" y="1647232"/>
            <a:ext cx="9144000" cy="9677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346"/>
              </a:buClr>
              <a:buSzPts val="6000"/>
              <a:buFont typeface="Inter"/>
              <a:buNone/>
            </a:pPr>
            <a:r>
              <a:rPr sz="4000" b="1" i="0">
                <a:solidFill>
                  <a:srgbClr val="1E1B4B"/>
                </a:solidFill>
                <a:latin typeface="Calibri"/>
              </a:rPr>
              <a:t>Porichoy (পরিচয়)</a:t>
            </a:r>
            <a:endParaRPr/>
          </a:p>
        </p:txBody>
      </p:sp>
      <p:sp>
        <p:nvSpPr>
          <p:cNvPr id="105" name="Google Shape;105;p2"/>
          <p:cNvSpPr txBox="1"/>
          <p:nvPr>
            <p:ph idx="1" type="subTitle"/>
          </p:nvPr>
        </p:nvSpPr>
        <p:spPr>
          <a:xfrm>
            <a:off x="1524000" y="2615031"/>
            <a:ext cx="9144000" cy="506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154E"/>
              </a:buClr>
              <a:buSzPts val="2400"/>
              <a:buNone/>
            </a:pPr>
            <a:r>
              <a:rPr sz="1600" b="0" i="1">
                <a:solidFill>
                  <a:srgbClr val="4B4877"/>
                </a:solidFill>
                <a:latin typeface="Calibri"/>
              </a:rPr>
              <a:t>DPP-in-a-Box — every Bangladeshi garment gets a verifiable identity before the EU’s 2027 Digital Product Passport wall.</a:t>
            </a:r>
            <a:endParaRPr>
              <a:solidFill>
                <a:srgbClr val="ED154E"/>
              </a:solidFill>
            </a:endParaRPr>
          </a:p>
        </p:txBody>
      </p:sp>
      <p:pic>
        <p:nvPicPr>
          <p:cNvPr descr="Logo&#10;&#10;Description automatically generated" id="106" name="Google Shape;10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8591" y="173509"/>
            <a:ext cx="1025712" cy="550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1344" y="169434"/>
            <a:ext cx="803146" cy="47662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TextBox 107"/>
          <p:cNvSpPr txBox="1"/>
          <p:nvPr/>
        </p:nvSpPr>
        <p:spPr>
          <a:xfrm>
            <a:off x="1524000" y="3900000"/>
            <a:ext cx="9144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4F46E5"/>
                </a:solidFill>
                <a:latin typeface="Calibri"/>
              </a:rPr>
              <a:t>rudra496.github.io/porichoy  ·  Sylhet, Bangladesh  ·  Rudra Sarker &amp; team, SUST IPE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701" y="5626101"/>
            <a:ext cx="1536701" cy="12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>
            <p:ph type="ctrTitle"/>
          </p:nvPr>
        </p:nvSpPr>
        <p:spPr>
          <a:xfrm>
            <a:off x="620297" y="321585"/>
            <a:ext cx="3940756" cy="440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346"/>
              </a:buClr>
              <a:buSzPts val="2700"/>
              <a:buFont typeface="Inter"/>
              <a:buNone/>
            </a:pPr>
            <a:r>
              <a:rPr b="1" lang="en-US" sz="2700">
                <a:solidFill>
                  <a:srgbClr val="142346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 b="1" sz="2700">
              <a:solidFill>
                <a:srgbClr val="14234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Logo&#10;&#10;Description automatically generated" id="116" name="Google Shape;11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8591" y="173509"/>
            <a:ext cx="1025712" cy="550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1344" y="169434"/>
            <a:ext cx="803146" cy="4766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/>
        </p:nvSpPr>
        <p:spPr>
          <a:xfrm>
            <a:off x="553453" y="1150000"/>
            <a:ext cx="11085094" cy="1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E1B4B"/>
                </a:solidFill>
                <a:latin typeface="Calibri"/>
              </a:rPr>
              <a:t>EU customs will auto-check Digital Product Passports on imported garments: ESPR in force 18 Jul 2024 · textiles in the first Working Plan (Apr 2025) · textile delegated act expected ~2027. No passport data → no EU order.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300" b="0" i="0">
                <a:solidFill>
                  <a:srgbClr val="4B4877"/>
                </a:solidFill>
                <a:latin typeface="Calibri"/>
              </a:rPr>
              <a:t>The data already exists in every factory — trapped in mixed Bangla/English Excels, ERP exports and paper trim cards. Global traceability platforms are brand-side and enterprise-priced; nobody captures at the Bangladeshi factory floor.</a:t>
            </a:r>
          </a:p>
          <a:p>
            <a:r>
              <a:rPr sz="1300" b="0" i="0">
                <a:solidFill>
                  <a:srgbClr val="4B4877"/>
                </a:solidFill>
                <a:latin typeface="Calibri"/>
              </a:rPr>
              <a:t>Most affected: small &amp; mid-size exporters without compliance teams — and, through them, the ≈4 million garment workers (BGMEA; majority women) whose livelihoods ride on Europe, the industry’s biggest market.</a:t>
            </a:r>
          </a:p>
        </p:txBody>
      </p:sp>
      <p:pic>
        <p:nvPicPr>
          <p:cNvPr id="119" name="Picture 118" descr="chart_time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0000" y="3350000"/>
            <a:ext cx="9800000" cy="23883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701" y="5626101"/>
            <a:ext cx="1536701" cy="123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129" name="Google Shape;12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8591" y="173509"/>
            <a:ext cx="1025712" cy="550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1344" y="169434"/>
            <a:ext cx="803146" cy="47662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/>
          <p:nvPr/>
        </p:nvSpPr>
        <p:spPr>
          <a:xfrm>
            <a:off x="455197" y="359685"/>
            <a:ext cx="3940756" cy="440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346"/>
              </a:buClr>
              <a:buSzPct val="100000"/>
              <a:buFont typeface="Inter"/>
              <a:buNone/>
            </a:pPr>
            <a:r>
              <a:rPr b="1" lang="en-US" sz="2800">
                <a:solidFill>
                  <a:srgbClr val="142346"/>
                </a:solidFill>
                <a:latin typeface="Inter"/>
                <a:ea typeface="Inter"/>
                <a:cs typeface="Inter"/>
                <a:sym typeface="Inter"/>
              </a:rPr>
              <a:t>OUR SOLUTION</a:t>
            </a:r>
            <a:endParaRPr b="1" sz="2800">
              <a:solidFill>
                <a:srgbClr val="14234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456353" y="1150000"/>
            <a:ext cx="11085000" cy="2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E1B4B"/>
                </a:solidFill>
                <a:latin typeface="Calibri"/>
              </a:rPr>
              <a:t>Porichoy turns a factory’s existing records into buyer-ready EU Digital Product Passports in four steps — all live today, offline-tolerant, Bangla + English:</a:t>
            </a:r>
            <a:endParaRPr b="1" sz="20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r>
              <a:rPr sz="1250" b="0" i="0">
                <a:solidFill>
                  <a:srgbClr val="4B4877"/>
                </a:solidFill>
                <a:latin typeface="Calibri"/>
              </a:rPr>
              <a:t>1 · INGEST — drop the factory Excel/CSV; every sheet parsed on-device. Nothing leaves the factory (local-first).</a:t>
            </a:r>
          </a:p>
          <a:p>
            <a:r>
              <a:rPr sz="1250" b="0" i="0">
                <a:solidFill>
                  <a:srgbClr val="4B4877"/>
                </a:solidFill>
                <a:latin typeface="Calibri"/>
              </a:rPr>
              <a:t>2 · MAP — the engine reads chaotic Bangla/English headers with confidence scores; a trained steward confirms; the factory’s vocabulary is learned.</a:t>
            </a:r>
          </a:p>
          <a:p>
            <a:r>
              <a:rPr sz="1250" b="0" i="0">
                <a:solidFill>
                  <a:srgbClr val="4B4877"/>
                </a:solidFill>
                <a:latin typeface="Calibri"/>
              </a:rPr>
              <a:t>3 · SCORE — DPP Readiness 0–100 per production order (weights = ESPR Art. 8 categories) with the exact gap list.</a:t>
            </a:r>
          </a:p>
          <a:p>
            <a:r>
              <a:rPr sz="1250" b="0" i="0">
                <a:solidFill>
                  <a:srgbClr val="4B4877"/>
                </a:solidFill>
                <a:latin typeface="Calibri"/>
              </a:rPr>
              <a:t>4 · PASSPORT — one click → a QR whose link embeds the passport; scanning opens the buyer view on any phone. No backend.</a:t>
            </a:r>
          </a:p>
          <a:p>
            <a:r>
              <a:rPr sz="1200" b="1" i="0">
                <a:solidFill>
                  <a:srgbClr val="E11D74"/>
                </a:solidFill>
                <a:latin typeface="Calibri"/>
              </a:rPr>
              <a:t>19/19 automated engine tests · SHA-256 provenance chain · stewards fix gaps in-place and the score updates instantly.</a:t>
            </a:r>
          </a:p>
        </p:txBody>
      </p:sp>
      <p:pic>
        <p:nvPicPr>
          <p:cNvPr id="133" name="Picture 132" descr="porichoy_da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0000" y="3900000"/>
            <a:ext cx="3400000" cy="2125000"/>
          </a:xfrm>
          <a:prstGeom prst="rect">
            <a:avLst/>
          </a:prstGeom>
        </p:spPr>
      </p:pic>
      <p:pic>
        <p:nvPicPr>
          <p:cNvPr id="134" name="Picture 133" descr="porichoy_p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0000" y="3900000"/>
            <a:ext cx="3400000" cy="2125000"/>
          </a:xfrm>
          <a:prstGeom prst="rect">
            <a:avLst/>
          </a:prstGeom>
        </p:spPr>
      </p:pic>
      <p:pic>
        <p:nvPicPr>
          <p:cNvPr id="135" name="Picture 134" descr="porichoy_evide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0000" y="3900000"/>
            <a:ext cx="3400000" cy="2125000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1700000" y="6050000"/>
            <a:ext cx="10000000" cy="1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B4877"/>
                </a:solidFill>
                <a:latin typeface="Calibri"/>
              </a:rPr>
              <a:t>Live production app — screenshots fetched 2026-09-13 · rudra496.github.io/porichoy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701" y="5626101"/>
            <a:ext cx="1536701" cy="123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142" name="Google Shape;14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8591" y="173509"/>
            <a:ext cx="1025712" cy="550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1344" y="169434"/>
            <a:ext cx="803146" cy="47662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 txBox="1"/>
          <p:nvPr/>
        </p:nvSpPr>
        <p:spPr>
          <a:xfrm>
            <a:off x="455197" y="410485"/>
            <a:ext cx="7636040" cy="440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346"/>
              </a:buClr>
              <a:buSzPct val="100000"/>
              <a:buFont typeface="Inter"/>
              <a:buNone/>
            </a:pPr>
            <a:r>
              <a:rPr b="1" lang="en-US" sz="2800">
                <a:solidFill>
                  <a:srgbClr val="142346"/>
                </a:solidFill>
                <a:latin typeface="Inter"/>
                <a:ea typeface="Inter"/>
                <a:cs typeface="Inter"/>
                <a:sym typeface="Inter"/>
              </a:rPr>
              <a:t>MARKET SIZE &amp; OPPORTUNITY</a:t>
            </a:r>
            <a:endParaRPr b="1" sz="2800">
              <a:solidFill>
                <a:srgbClr val="14234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456353" y="1150000"/>
            <a:ext cx="11085000" cy="2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E1B4B"/>
                </a:solidFill>
                <a:latin typeface="Calibri"/>
              </a:rPr>
              <a:t>A dated compliance wall creates a forced-adoption market:</a:t>
            </a:r>
            <a:endParaRPr/>
          </a:p>
          <a:p>
            <a:r>
              <a:rPr sz="1300" b="0" i="0">
                <a:solidFill>
                  <a:srgbClr val="4B4877"/>
                </a:solidFill>
                <a:latin typeface="Calibri"/>
              </a:rPr>
              <a:t>≈ 4 million RMG workers (BGMEA) · world’s #2 ready-made garment exporter · Europe is the biggest market (NIC 3.0 call) · thousands of export factories in the BGMEA member base — every one shipping to the EU must be DPP-ready inside the 2027–30 window.</a:t>
            </a:r>
          </a:p>
          <a:p>
            <a:r>
              <a:rPr sz="1300" b="1" i="0">
                <a:solidFill>
                  <a:srgbClr val="1E1B4B"/>
                </a:solidFill>
                <a:latin typeface="Calibri"/>
              </a:rPr>
              <a:t>Illustrative revenue math on Porichoy’s own pricing (BDT 2,000–8,000/factory/month):</a:t>
            </a:r>
          </a:p>
          <a:p>
            <a:r>
              <a:rPr sz="1300" b="0" i="0">
                <a:solidFill>
                  <a:srgbClr val="4B4877"/>
                </a:solidFill>
                <a:latin typeface="Calibri"/>
              </a:rPr>
              <a:t>100 pilot-scale factories ≈ BDT 60 lakh/year · 1,000 factories ≈ BDT 6 crore/year — before brand-funded supplier-onboarding contracts, where buyers pay to bring their supplier base onto passports before the deadline.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56353" y="3550000"/>
            <a:ext cx="2650000" cy="10500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11D74"/>
                </a:solidFill>
                <a:latin typeface="Calibri"/>
              </a:rPr>
              <a:t>≈4 million</a:t>
            </a:r>
          </a:p>
          <a:p>
            <a:r>
              <a:rPr sz="1000">
                <a:solidFill>
                  <a:srgbClr val="FFFFFF"/>
                </a:solidFill>
                <a:latin typeface="Calibri"/>
              </a:rPr>
              <a:t>RMG workers, majority women (BGMEA)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306353" y="3550000"/>
            <a:ext cx="2650000" cy="10500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11D74"/>
                </a:solidFill>
                <a:latin typeface="Calibri"/>
              </a:rPr>
              <a:t>#2 exporter</a:t>
            </a:r>
          </a:p>
          <a:p>
            <a:r>
              <a:rPr sz="1000">
                <a:solidFill>
                  <a:srgbClr val="FFFFFF"/>
                </a:solidFill>
                <a:latin typeface="Calibri"/>
              </a:rPr>
              <a:t>world RMG — Europe the biggest market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156353" y="3550000"/>
            <a:ext cx="2650000" cy="10500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11D74"/>
                </a:solidFill>
                <a:latin typeface="Calibri"/>
              </a:rPr>
              <a:t>2027–30</a:t>
            </a:r>
          </a:p>
          <a:p>
            <a:r>
              <a:rPr sz="1000">
                <a:solidFill>
                  <a:srgbClr val="FFFFFF"/>
                </a:solidFill>
                <a:latin typeface="Calibri"/>
              </a:rPr>
              <a:t>EU DPP phase-in; customs auto-checks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9006353" y="3550000"/>
            <a:ext cx="2650000" cy="10500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11D74"/>
                </a:solidFill>
                <a:latin typeface="Calibri"/>
              </a:rPr>
              <a:t>10→100+</a:t>
            </a:r>
          </a:p>
          <a:p>
            <a:r>
              <a:rPr sz="1000">
                <a:solidFill>
                  <a:srgbClr val="FFFFFF"/>
                </a:solidFill>
                <a:latin typeface="Calibri"/>
              </a:rPr>
              <a:t>factories: year-1 pilot → year-3 scale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56353" y="4900000"/>
            <a:ext cx="10100000" cy="9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4B4877"/>
                </a:solidFill>
                <a:latin typeface="Calibri"/>
              </a:rPr>
              <a:t>Timing is the wedge: buyers already ask, budgets activate before the deadline, and no Bangladesh-built tool serves the factory floor today — the verified competitors are brand-side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701" y="5626101"/>
            <a:ext cx="1536701" cy="123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155" name="Google Shape;15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8591" y="173509"/>
            <a:ext cx="1025712" cy="550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1344" y="169434"/>
            <a:ext cx="803146" cy="47662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 txBox="1"/>
          <p:nvPr/>
        </p:nvSpPr>
        <p:spPr>
          <a:xfrm>
            <a:off x="455197" y="232685"/>
            <a:ext cx="7521740" cy="428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346"/>
              </a:buClr>
              <a:buSzPct val="100000"/>
              <a:buFont typeface="Inter"/>
              <a:buNone/>
            </a:pPr>
            <a:r>
              <a:rPr b="1" lang="en-US" sz="2800">
                <a:solidFill>
                  <a:srgbClr val="142346"/>
                </a:solidFill>
                <a:latin typeface="Inter"/>
                <a:ea typeface="Inter"/>
                <a:cs typeface="Inter"/>
                <a:sym typeface="Inter"/>
              </a:rPr>
              <a:t>BUSINESS &amp; REVENUE MODEL</a:t>
            </a:r>
            <a:endParaRPr b="1" sz="2800">
              <a:solidFill>
                <a:srgbClr val="14234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456353" y="1150000"/>
            <a:ext cx="11085000" cy="2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E1B4B"/>
                </a:solidFill>
                <a:latin typeface="Calibri"/>
              </a:rPr>
              <a:t>Three simple revenue lines:</a:t>
            </a:r>
            <a:endParaRPr b="1" sz="20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r>
              <a:rPr sz="1250" b="0" i="0">
                <a:solidFill>
                  <a:srgbClr val="4B4877"/>
                </a:solidFill>
                <a:latin typeface="Calibri"/>
              </a:rPr>
              <a:t>1. Factory subscriptions — BDT 2,000–8,000/month by size (SME-priced, ~10× below enterprise platforms).</a:t>
            </a:r>
          </a:p>
          <a:p>
            <a:r>
              <a:rPr sz="1250" b="0" i="0">
                <a:solidFill>
                  <a:srgbClr val="4B4877"/>
                </a:solidFill>
                <a:latin typeface="Calibri"/>
              </a:rPr>
              <a:t>2. Onboarding &amp; data-rescue — one-time fee: steward training + first ingest + mapping historic files.</a:t>
            </a:r>
          </a:p>
          <a:p>
            <a:r>
              <a:rPr sz="1250" b="0" i="0">
                <a:solidFill>
                  <a:srgbClr val="4B4877"/>
                </a:solidFill>
                <a:latin typeface="Calibri"/>
              </a:rPr>
              <a:t>3. Brand-funded supplier onboarding — buyers pay to make their supplier base passport-ready before 2027–30.</a:t>
            </a:r>
          </a:p>
          <a:p>
            <a:r>
              <a:rPr sz="1250" b="1" i="0">
                <a:solidFill>
                  <a:srgbClr val="E11D74"/>
                </a:solidFill>
                <a:latin typeface="Calibri"/>
              </a:rPr>
              <a:t>Unit economics: onboarding ≈ 2 person-days/factory · software gross margin &gt;80% · replication is a template, not a project.</a:t>
            </a:r>
          </a:p>
        </p:txBody>
      </p:sp>
      <p:pic>
        <p:nvPicPr>
          <p:cNvPr id="159" name="Picture 158" descr="chart_gra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000" y="2900000"/>
            <a:ext cx="4093548" cy="2700000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456353" y="3000000"/>
            <a:ext cx="5600000" cy="1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1E1B4B"/>
                </a:solidFill>
                <a:latin typeface="Calibri"/>
              </a:rPr>
              <a:t>Pollination grant (BDT 650,000) funds the 10-factory pilot:</a:t>
            </a:r>
          </a:p>
          <a:p>
            <a:r>
              <a:rPr sz="1200" b="0" i="0">
                <a:solidFill>
                  <a:srgbClr val="4B4877"/>
                </a:solidFill>
                <a:latin typeface="Calibri"/>
              </a:rPr>
              <a:t>BDT 220k pilot + steward training · 180k OCR for paper trim cards · 150k mapping corpus (Bangla + ERP formats) · 100k legal &amp; compliance.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701" y="5626101"/>
            <a:ext cx="1536701" cy="123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168" name="Google Shape;1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8591" y="173509"/>
            <a:ext cx="1025712" cy="550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1344" y="169434"/>
            <a:ext cx="803146" cy="47662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 txBox="1"/>
          <p:nvPr/>
        </p:nvSpPr>
        <p:spPr>
          <a:xfrm>
            <a:off x="456353" y="1150000"/>
            <a:ext cx="11085094" cy="2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B4877"/>
                </a:solidFill>
                <a:latin typeface="Calibri"/>
              </a:rPr>
              <a:t>Competitiveness: EU-order eligibility is protected (customs auto-checks), compliance prep per PO drops from days of file-hunting to under an hour, and readiness scores make factories the buyer-preferred choice.</a:t>
            </a:r>
            <a:endParaRPr b="1" sz="20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r>
              <a:rPr sz="1250" b="0" i="0">
                <a:solidFill>
                  <a:srgbClr val="4B4877"/>
                </a:solidFill>
                <a:latin typeface="Calibri"/>
              </a:rPr>
              <a:t>Women: two women operators per factory are trained &amp; certified as DPP Data Stewards — formal, higher-skilled roles (20 in year 1 → 200 by year 3, targets) — and keeping factories order-eligible protects a majority-women workforce (≈4M workers, BGMEA).</a:t>
            </a:r>
          </a:p>
          <a:p>
            <a:r>
              <a:rPr sz="1250" b="0" i="0">
                <a:solidFill>
                  <a:srgbClr val="4B4877"/>
                </a:solidFill>
                <a:latin typeface="Calibri"/>
              </a:rPr>
              <a:t>Circularity: DPP fields make recycled content, certificates and end-of-life routes verifiable — turning circularity claims into machine-checkable data that flows to buyers and recyclers.</a:t>
            </a:r>
          </a:p>
        </p:txBody>
      </p:sp>
      <p:sp>
        <p:nvSpPr>
          <p:cNvPr id="171" name="Google Shape;171;p7"/>
          <p:cNvSpPr txBox="1"/>
          <p:nvPr/>
        </p:nvSpPr>
        <p:spPr>
          <a:xfrm>
            <a:off x="455197" y="270785"/>
            <a:ext cx="4867440" cy="440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346"/>
              </a:buClr>
              <a:buSzPct val="100000"/>
              <a:buFont typeface="Inter"/>
              <a:buNone/>
            </a:pPr>
            <a:r>
              <a:rPr b="1" lang="en-US" sz="2800">
                <a:solidFill>
                  <a:srgbClr val="142346"/>
                </a:solidFill>
                <a:latin typeface="Inter"/>
                <a:ea typeface="Inter"/>
                <a:cs typeface="Inter"/>
                <a:sym typeface="Inter"/>
              </a:rPr>
              <a:t>OUR IMPACT</a:t>
            </a:r>
            <a:endParaRPr b="1" sz="2800">
              <a:solidFill>
                <a:srgbClr val="14234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2" name="Picture 171" descr="chart_wom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0000" y="3600000"/>
            <a:ext cx="4400000" cy="2152488"/>
          </a:xfrm>
          <a:prstGeom prst="rect">
            <a:avLst/>
          </a:prstGeom>
        </p:spPr>
      </p:pic>
      <p:pic>
        <p:nvPicPr>
          <p:cNvPr id="173" name="Picture 172" descr="photo_wome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000" y="3650000"/>
            <a:ext cx="3200000" cy="2400000"/>
          </a:xfrm>
          <a:prstGeom prst="rect">
            <a:avLst/>
          </a:prstGeom>
        </p:spPr>
      </p:pic>
      <p:sp>
        <p:nvSpPr>
          <p:cNvPr id="174" name="TextBox 173"/>
          <p:cNvSpPr txBox="1"/>
          <p:nvPr/>
        </p:nvSpPr>
        <p:spPr>
          <a:xfrm>
            <a:off x="1700000" y="6150000"/>
            <a:ext cx="10000000" cy="1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B4877"/>
                </a:solidFill>
                <a:latin typeface="Calibri"/>
              </a:rPr>
              <a:t>Left: women-steward ramp (roadmap targets). Right: RMG factory floor — photo CC BY 2.0, Wikimedia Commons.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701" y="5626101"/>
            <a:ext cx="1536701" cy="123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182" name="Google Shape;18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8591" y="173509"/>
            <a:ext cx="1025712" cy="550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1344" y="169434"/>
            <a:ext cx="803146" cy="47662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 txBox="1"/>
          <p:nvPr/>
        </p:nvSpPr>
        <p:spPr>
          <a:xfrm>
            <a:off x="556797" y="270785"/>
            <a:ext cx="4867440" cy="440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346"/>
              </a:buClr>
              <a:buSzPct val="100000"/>
              <a:buFont typeface="Inter"/>
              <a:buNone/>
            </a:pPr>
            <a:r>
              <a:rPr b="1" lang="en-US" sz="2800">
                <a:solidFill>
                  <a:srgbClr val="142346"/>
                </a:solidFill>
                <a:latin typeface="Inter"/>
                <a:ea typeface="Inter"/>
                <a:cs typeface="Inter"/>
                <a:sym typeface="Inter"/>
              </a:rPr>
              <a:t>OUR TEAM</a:t>
            </a:r>
            <a:endParaRPr b="1" sz="2800">
              <a:solidFill>
                <a:srgbClr val="14234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1950000" y="1000000"/>
            <a:ext cx="10100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E1B4B"/>
                </a:solidFill>
                <a:latin typeface="Calibri"/>
              </a:rPr>
              <a:t>Rudra Sarker — Founder &amp; full-time product engineer. Final-year B.Sc. Industrial &amp; Production Engineering, SUST. Builds every part of Porichoy: the EU-aligned DPP schema, the Bangla/English mapping engine, readiness scoring and the provenance chain.</a:t>
            </a:r>
            <a:endParaRPr/>
          </a:p>
          <a:p>
            <a:r>
              <a:rPr sz="1150" b="0" i="0">
                <a:solidFill>
                  <a:srgbClr val="4B4877"/>
                </a:solidFill>
                <a:latin typeface="Calibri"/>
              </a:rPr>
              <a:t>Awards &amp; achievements (verified): Q1 journal publication — Journal of Ethnopharmacology (Elsevier, 2026), 3rd author · Z.AI Global Ambassador (since Nov 2025) · IEF Bangladesh Ambassador (since Apr 2026) · Secretary, RoboSUST (2025–26) · GaoTek industrial internship (2024–25).</a:t>
            </a:r>
          </a:p>
          <a:p>
            <a:r>
              <a:rPr sz="1150" b="0" i="0">
                <a:solidFill>
                  <a:srgbClr val="4B4877"/>
                </a:solidFill>
                <a:latin typeface="Calibri"/>
              </a:rPr>
              <a:t>Two IPE backgrounds ground us in how factories actually run; systems engineering makes the software ship. Women lead our steward program by design — the same people the product trains and employs. No big-name advisers: 19/19 passing tests, public code and a live product speak instead.</a:t>
            </a:r>
          </a:p>
        </p:txBody>
      </p:sp>
      <p:pic>
        <p:nvPicPr>
          <p:cNvPr id="186" name="Picture 185" descr="rudra_cv_pho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353" y="1000000"/>
            <a:ext cx="1300000" cy="1300000"/>
          </a:xfrm>
          <a:prstGeom prst="rect">
            <a:avLst/>
          </a:prstGeom>
        </p:spPr>
      </p:pic>
      <p:sp>
        <p:nvSpPr>
          <p:cNvPr id="187" name="Rounded Rectangle 186"/>
          <p:cNvSpPr/>
          <p:nvPr/>
        </p:nvSpPr>
        <p:spPr>
          <a:xfrm>
            <a:off x="456353" y="2550000"/>
            <a:ext cx="2707000" cy="16500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Lutfay Homayra Islam</a:t>
            </a:r>
          </a:p>
          <a:p>
            <a:r>
              <a:rPr sz="900">
                <a:solidFill>
                  <a:srgbClr val="C7D2FE"/>
                </a:solidFill>
                <a:latin typeface="Calibri"/>
              </a:rPr>
              <a:t>SUST · IPE</a:t>
            </a:r>
          </a:p>
          <a:p>
            <a:r>
              <a:rPr sz="1000" b="1">
                <a:solidFill>
                  <a:srgbClr val="F9A8D4"/>
                </a:solidFill>
                <a:latin typeface="Calibri"/>
              </a:rPr>
              <a:t>Factory Operations &amp; Pilot Lead</a:t>
            </a:r>
          </a:p>
          <a:p>
            <a:r>
              <a:rPr sz="900">
                <a:solidFill>
                  <a:srgbClr val="E0E7FF"/>
                </a:solidFill>
                <a:latin typeface="Calibri"/>
              </a:rPr>
              <a:t>Process mapping, factory data collection, readiness audits across the pilot factories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3313353" y="2550000"/>
            <a:ext cx="2707000" cy="16500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Priom Sarker</a:t>
            </a:r>
          </a:p>
          <a:p>
            <a:r>
              <a:rPr sz="900">
                <a:solidFill>
                  <a:srgbClr val="C7D2FE"/>
                </a:solidFill>
                <a:latin typeface="Calibri"/>
              </a:rPr>
              <a:t>BUET</a:t>
            </a:r>
          </a:p>
          <a:p>
            <a:r>
              <a:rPr sz="1000" b="1">
                <a:solidFill>
                  <a:srgbClr val="F9A8D4"/>
                </a:solidFill>
                <a:latin typeface="Calibri"/>
              </a:rPr>
              <a:t>Systems &amp; Technology Lead</a:t>
            </a:r>
          </a:p>
          <a:p>
            <a:r>
              <a:rPr sz="900">
                <a:solidFill>
                  <a:srgbClr val="E0E7FF"/>
                </a:solidFill>
                <a:latin typeface="Calibri"/>
              </a:rPr>
              <a:t>Systems architecture, ERP/API integrations, technical review of the ingestion pipeline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6170353" y="2550000"/>
            <a:ext cx="2707000" cy="16500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Shuvo Kundu</a:t>
            </a:r>
          </a:p>
          <a:p>
            <a:r>
              <a:rPr sz="900">
                <a:solidFill>
                  <a:srgbClr val="C7D2FE"/>
                </a:solidFill>
                <a:latin typeface="Calibri"/>
              </a:rPr>
              <a:t>University of Asia Pacific</a:t>
            </a:r>
          </a:p>
          <a:p>
            <a:r>
              <a:rPr sz="1000" b="1">
                <a:solidFill>
                  <a:srgbClr val="F9A8D4"/>
                </a:solidFill>
                <a:latin typeface="Calibri"/>
              </a:rPr>
              <a:t>Data &amp; Research Lead</a:t>
            </a:r>
          </a:p>
          <a:p>
            <a:r>
              <a:rPr sz="900">
                <a:solidFill>
                  <a:srgbClr val="E0E7FF"/>
                </a:solidFill>
                <a:latin typeface="Calibri"/>
              </a:rPr>
              <a:t>Dataset curation, Bangla mapping-corpus growth, literature &amp; research support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9027353" y="2550000"/>
            <a:ext cx="2707000" cy="16500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Samia Hossain</a:t>
            </a:r>
          </a:p>
          <a:p>
            <a:r>
              <a:rPr sz="900">
                <a:solidFill>
                  <a:srgbClr val="C7D2FE"/>
                </a:solidFill>
                <a:latin typeface="Calibri"/>
              </a:rPr>
              <a:t/>
            </a:r>
          </a:p>
          <a:p>
            <a:r>
              <a:rPr sz="1000" b="1">
                <a:solidFill>
                  <a:srgbClr val="F9A8D4"/>
                </a:solidFill>
                <a:latin typeface="Calibri"/>
              </a:rPr>
              <a:t>Steward Training &amp; Outreach Lead</a:t>
            </a:r>
          </a:p>
          <a:p>
            <a:r>
              <a:rPr sz="900">
                <a:solidFill>
                  <a:srgbClr val="E0E7FF"/>
                </a:solidFill>
                <a:latin typeface="Calibri"/>
              </a:rPr>
              <a:t>Runs the women DPP Data Steward training program and factory outreach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700000" y="4600000"/>
            <a:ext cx="10035000" cy="8000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Live: rudra496.github.io/porichoy  ·  code: github.com/rudra496/porichoy  ·  19/19 engine tests  ·  launched Sep 2026</a:t>
            </a:r>
          </a:p>
          <a:p>
            <a:r>
              <a:rPr sz="1100" i="1">
                <a:solidFill>
                  <a:srgbClr val="F9A8D4"/>
                </a:solidFill>
                <a:latin typeface="Calibri"/>
              </a:rPr>
              <a:t>Everything we claim is checkable — that is the product’s whole point.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701" y="5626101"/>
            <a:ext cx="1536701" cy="12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9"/>
          <p:cNvSpPr txBox="1"/>
          <p:nvPr/>
        </p:nvSpPr>
        <p:spPr>
          <a:xfrm>
            <a:off x="4234099" y="4194104"/>
            <a:ext cx="3023463" cy="15035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1" sz="2000">
              <a:solidFill>
                <a:srgbClr val="14234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Logo&#10;&#10;Description automatically generated" id="197" name="Google Shape;19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8591" y="173509"/>
            <a:ext cx="1025712" cy="550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1344" y="169434"/>
            <a:ext cx="803146" cy="47662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 txBox="1"/>
          <p:nvPr>
            <p:ph type="ctrTitle"/>
          </p:nvPr>
        </p:nvSpPr>
        <p:spPr>
          <a:xfrm>
            <a:off x="1173830" y="1480086"/>
            <a:ext cx="9144000" cy="9677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346"/>
              </a:buClr>
              <a:buSzPts val="6000"/>
              <a:buFont typeface="Inter"/>
              <a:buNone/>
            </a:pPr>
            <a:r>
              <a:rPr b="1" lang="en-US">
                <a:solidFill>
                  <a:srgbClr val="142346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b="1">
              <a:solidFill>
                <a:srgbClr val="14234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467726" y="2890913"/>
            <a:ext cx="11073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E1B4B"/>
                </a:solidFill>
                <a:latin typeface="Calibri"/>
              </a:rPr>
              <a:t>Name:  Rudra Sarker — Founder, Porichoy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400" b="0" i="0">
                <a:solidFill>
                  <a:srgbClr val="4B4877"/>
                </a:solidFill>
                <a:latin typeface="Calibri"/>
              </a:rPr>
              <a:t>Phone:  +8801988223165</a:t>
            </a:r>
          </a:p>
          <a:p>
            <a:r>
              <a:rPr sz="1400" b="0" i="0">
                <a:solidFill>
                  <a:srgbClr val="4B4877"/>
                </a:solidFill>
                <a:latin typeface="Calibri"/>
              </a:rPr>
              <a:t>Email:  rudrasarker125@gmail.com</a:t>
            </a:r>
          </a:p>
          <a:p>
            <a:r>
              <a:rPr sz="1400" b="1" i="0">
                <a:solidFill>
                  <a:srgbClr val="4F46E5"/>
                </a:solidFill>
                <a:latin typeface="Calibri"/>
              </a:rPr>
              <a:t>Live product:  rudra496.github.io/porichoy  ·  Code:  github.com/rudra496/porichoy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2023-07-03T12:09:51Z</dcterms:created>
  <dc:creator>BM Banjir</dc:creator>
</cp:coreProperties>
</file>