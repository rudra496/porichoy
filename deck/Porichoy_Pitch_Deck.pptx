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9144000"/>
  <p:embeddedFontLst>
    <p:embeddedFont>
      <p:font typeface="Inter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gL4dCcABQ8VNfywXgbBUPHGQ/8Q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font" Target="fonts/Inter-regular.fntdata"/><Relationship Id="rId15" Type="http://schemas.openxmlformats.org/officeDocument/2006/relationships/font" Target="fonts/Inter-bold.fntdata"/><Relationship Id="rId16" Type="http://schemas.openxmlformats.org/officeDocument/2006/relationships/font" Target="fonts/Inter-italic.fntdata"/><Relationship Id="rId17" Type="http://schemas.openxmlformats.org/officeDocument/2006/relationships/font" Target="fonts/Inter-boldItalic.fntdata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8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8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9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9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0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1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4.png"/><Relationship Id="rId7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"/>
          <p:cNvSpPr txBox="1"/>
          <p:nvPr/>
        </p:nvSpPr>
        <p:spPr>
          <a:xfrm>
            <a:off x="10602663" y="5964997"/>
            <a:ext cx="131029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YOUR LOGO</a:t>
            </a:r>
            <a:endParaRPr/>
          </a:p>
        </p:txBody>
      </p:sp>
      <p:pic>
        <p:nvPicPr>
          <p:cNvPr descr="Logo&#10;&#10;Description automatically generated" id="90" name="Google Shape;90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"/>
          <p:cNvSpPr txBox="1"/>
          <p:nvPr/>
        </p:nvSpPr>
        <p:spPr>
          <a:xfrm>
            <a:off x="838200" y="97277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INSTRUCTIONS:</a:t>
            </a:r>
            <a:endParaRPr b="0" sz="2400" u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1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DELETE THIS PAGE AFTER PREPARING YOUR PITCH DECK.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1" sz="2400" u="none">
              <a:solidFill>
                <a:srgbClr val="EC29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Char char="•"/>
            </a:pP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Use this template for your preparing your pitch deck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Char char="•"/>
            </a:pP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Pitch Deck should address the points indicated from slide 2 to slide 8 (</a:t>
            </a:r>
            <a:r>
              <a:rPr b="0" i="1" lang="en-US" sz="20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see the </a:t>
            </a:r>
            <a:r>
              <a:rPr b="0" i="1" lang="en-US" sz="2000" u="none">
                <a:solidFill>
                  <a:srgbClr val="EC293F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instruction in each slide</a:t>
            </a:r>
            <a:r>
              <a:rPr b="0" i="1" lang="en-US" sz="20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, you will have better clarity about the content that should be covered under each point</a:t>
            </a: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) 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0" sz="2400" u="none">
              <a:solidFill>
                <a:srgbClr val="EC29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1" lang="en-US" sz="2400" u="none">
                <a:solidFill>
                  <a:srgbClr val="EC293F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Convert your PowerPoint Slide into PDF format. The file size should not exceed 10MB!</a:t>
            </a:r>
            <a:endParaRPr b="1" sz="2400" u="none">
              <a:solidFill>
                <a:srgbClr val="EC293F"/>
              </a:solidFill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1" sz="2400" u="none">
              <a:solidFill>
                <a:srgbClr val="EC293F"/>
              </a:solidFill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1" lang="en-US" sz="2400" u="none">
                <a:solidFill>
                  <a:srgbClr val="EC293F"/>
                </a:solidFill>
                <a:highlight>
                  <a:srgbClr val="00FFFF"/>
                </a:highlight>
                <a:latin typeface="Calibri"/>
                <a:ea typeface="Calibri"/>
                <a:cs typeface="Calibri"/>
                <a:sym typeface="Calibri"/>
              </a:rPr>
              <a:t>Rename your pitch deck with your team/startup name while uploading the file into the Google Form!</a:t>
            </a:r>
            <a:endParaRPr b="0" sz="2400" u="none">
              <a:solidFill>
                <a:srgbClr val="EC293F"/>
              </a:solidFill>
              <a:highlight>
                <a:srgbClr val="00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0" sz="2400" u="none">
              <a:solidFill>
                <a:srgbClr val="EC29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3" name="Google Shape;93;p1"/>
          <p:cNvGrpSpPr/>
          <p:nvPr/>
        </p:nvGrpSpPr>
        <p:grpSpPr>
          <a:xfrm>
            <a:off x="10560676" y="5679584"/>
            <a:ext cx="1378040" cy="940158"/>
            <a:chOff x="10560676" y="5679584"/>
            <a:chExt cx="1378040" cy="940158"/>
          </a:xfrm>
        </p:grpSpPr>
        <p:sp>
          <p:nvSpPr>
            <p:cNvPr id="94" name="Google Shape;94;p1"/>
            <p:cNvSpPr/>
            <p:nvPr/>
          </p:nvSpPr>
          <p:spPr>
            <a:xfrm>
              <a:off x="10560676" y="5679584"/>
              <a:ext cx="1378040" cy="940158"/>
            </a:xfrm>
            <a:prstGeom prst="roundRect">
              <a:avLst>
                <a:gd fmla="val 4667" name="adj"/>
              </a:avLst>
            </a:prstGeom>
            <a:solidFill>
              <a:srgbClr val="ED154E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1"/>
            <p:cNvSpPr txBox="1"/>
            <p:nvPr/>
          </p:nvSpPr>
          <p:spPr>
            <a:xfrm>
              <a:off x="10594548" y="5826497"/>
              <a:ext cx="1310295" cy="6463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YOUR LOGO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(if Any)</a:t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"/>
          <p:cNvSpPr txBox="1"/>
          <p:nvPr>
            <p:ph type="ctrTitle"/>
          </p:nvPr>
        </p:nvSpPr>
        <p:spPr>
          <a:xfrm>
            <a:off x="1524000" y="1647232"/>
            <a:ext cx="9144000" cy="9677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ts val="6000"/>
              <a:buFont typeface="Inter"/>
              <a:buNone/>
            </a:pPr>
            <a:r>
              <a:rPr sz="4400" b="1" i="0">
                <a:solidFill>
                  <a:srgbClr val="1E1B4B"/>
                </a:solidFill>
                <a:latin typeface="Times New Roman"/>
              </a:rPr>
              <a:t>Porichoy (পরিচয়)</a:t>
            </a:r>
            <a:endParaRPr/>
          </a:p>
        </p:txBody>
      </p:sp>
      <p:sp>
        <p:nvSpPr>
          <p:cNvPr id="105" name="Google Shape;105;p2"/>
          <p:cNvSpPr txBox="1"/>
          <p:nvPr>
            <p:ph idx="1" type="subTitle"/>
          </p:nvPr>
        </p:nvSpPr>
        <p:spPr>
          <a:xfrm>
            <a:off x="1524000" y="2750000"/>
            <a:ext cx="9144000" cy="506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154E"/>
              </a:buClr>
              <a:buSzPts val="2400"/>
              <a:buNone/>
            </a:pPr>
            <a:r>
              <a:rPr sz="1700" b="0" i="1">
                <a:solidFill>
                  <a:srgbClr val="4B4877"/>
                </a:solidFill>
                <a:latin typeface="Times New Roman"/>
              </a:rPr>
              <a:t>DPP-in-a-Box — every Bangladeshi garment gets a verifiable identity before the EU’s 2027 Digital Product Passport wall.</a:t>
            </a:r>
            <a:endParaRPr>
              <a:solidFill>
                <a:srgbClr val="ED154E"/>
              </a:solidFill>
            </a:endParaRPr>
          </a:p>
        </p:txBody>
      </p:sp>
      <p:pic>
        <p:nvPicPr>
          <p:cNvPr descr="Logo&#10;&#10;Description automatically generated" id="106" name="Google Shape;106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TextBox 107"/>
          <p:cNvSpPr txBox="1"/>
          <p:nvPr/>
        </p:nvSpPr>
        <p:spPr>
          <a:xfrm>
            <a:off x="1524000" y="3550000"/>
            <a:ext cx="9144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F46E5"/>
                </a:solidFill>
                <a:latin typeface="Times New Roman"/>
              </a:rPr>
              <a:t>Live pilot app: rudra496.github.io/porichoy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4000" y="4050000"/>
            <a:ext cx="9144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B4877"/>
                </a:solidFill>
                <a:latin typeface="Times New Roman"/>
              </a:rPr>
              <a:t>Team Porichoy · SUST IPE + BUET + UAP · Sylhet &amp; Dhaka, Bangladesh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3"/>
          <p:cNvSpPr txBox="1"/>
          <p:nvPr>
            <p:ph type="ctrTitle"/>
          </p:nvPr>
        </p:nvSpPr>
        <p:spPr>
          <a:xfrm>
            <a:off x="620297" y="321585"/>
            <a:ext cx="3940756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ts val="2700"/>
              <a:buFont typeface="Inter"/>
              <a:buNone/>
            </a:pPr>
            <a:r>
              <a:rPr b="1" lang="en-US" sz="2700">
                <a:solidFill>
                  <a:srgbClr val="142346"/>
                </a:solidFill>
                <a:latin typeface="Times New Roman"/>
                <a:ea typeface="Inter"/>
                <a:cs typeface="Inter"/>
                <a:sym typeface="Inter"/>
              </a:rPr>
              <a:t>THE PROBLEM</a:t>
            </a:r>
            <a:endParaRPr b="1" sz="27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Logo&#10;&#10;Description automatically generated" id="116" name="Google Shape;116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3"/>
          <p:cNvSpPr txBox="1"/>
          <p:nvPr/>
        </p:nvSpPr>
        <p:spPr>
          <a:xfrm>
            <a:off x="553453" y="1100000"/>
            <a:ext cx="11085094" cy="20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1E1B4B"/>
                </a:solidFill>
                <a:latin typeface="Times New Roman"/>
              </a:rPr>
              <a:t>From 2027, EU customs will auto-check Digital Product Passports on imported garments. No passport data → no EU order.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450" b="0" i="0">
                <a:solidFill>
                  <a:srgbClr val="4B4877"/>
                </a:solidFill>
                <a:latin typeface="Times New Roman"/>
              </a:rPr>
              <a:t>ESPR in force 18 Jul 2024 · textiles in the first Working Plan (Apr 2025) · textile delegated act expected ~2027.</a:t>
            </a:r>
          </a:p>
          <a:p>
            <a:r>
              <a:rPr sz="1450" b="0" i="0">
                <a:solidFill>
                  <a:srgbClr val="4B4877"/>
                </a:solidFill>
                <a:latin typeface="Times New Roman"/>
              </a:rPr>
              <a:t>Every factory already holds the proof — trapped in mixed Bangla/English Excels, ERP exports and paper trim cards. Global platforms are brand-side; nobody captures at the factory floor.</a:t>
            </a:r>
          </a:p>
          <a:p>
            <a:r>
              <a:rPr sz="1450" b="0" i="0">
                <a:solidFill>
                  <a:srgbClr val="4B4877"/>
                </a:solidFill>
                <a:latin typeface="Times New Roman"/>
              </a:rPr>
              <a:t>Most affected: small &amp; mid-size exporters — and ≈ 4 million garment workers (BGMEA; majority women) whose market is Europe.</a:t>
            </a:r>
          </a:p>
        </p:txBody>
      </p:sp>
      <p:pic>
        <p:nvPicPr>
          <p:cNvPr id="119" name="Picture 118" descr="chart_time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53" y="3450000"/>
            <a:ext cx="10600000" cy="25208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29" name="Google Shape;12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4"/>
          <p:cNvSpPr txBox="1"/>
          <p:nvPr/>
        </p:nvSpPr>
        <p:spPr>
          <a:xfrm>
            <a:off x="455197" y="359685"/>
            <a:ext cx="3940756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Times New Roman"/>
                <a:ea typeface="Inter"/>
                <a:cs typeface="Inter"/>
                <a:sym typeface="Inter"/>
              </a:rPr>
              <a:t>OUR SOLUTION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2" name="Google Shape;132;p4"/>
          <p:cNvSpPr txBox="1"/>
          <p:nvPr/>
        </p:nvSpPr>
        <p:spPr>
          <a:xfrm>
            <a:off x="455197" y="1050000"/>
            <a:ext cx="11281606" cy="2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E1B4B"/>
                </a:solidFill>
                <a:latin typeface="Times New Roman"/>
              </a:rPr>
              <a:t>Our live pilot app turns a factory’s existing records into buyer-ready EU Digital Product Passports in four steps:</a:t>
            </a:r>
            <a:endParaRPr b="1" sz="20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r>
              <a:rPr sz="1500" b="0" i="0">
                <a:solidFill>
                  <a:srgbClr val="4B4877"/>
                </a:solidFill>
                <a:latin typeface="Times New Roman"/>
              </a:rPr>
              <a:t>1 · INGEST — drop the factory Excel/CSV; parsed on-device. Raw data never leaves the factory.</a:t>
            </a:r>
          </a:p>
          <a:p>
            <a:r>
              <a:rPr sz="1500" b="0" i="0">
                <a:solidFill>
                  <a:srgbClr val="4B4877"/>
                </a:solidFill>
                <a:latin typeface="Times New Roman"/>
              </a:rPr>
              <a:t>2 · MAP — Bangla/English headers auto-mapped with confidence scores; a trained steward confirms.</a:t>
            </a:r>
          </a:p>
          <a:p>
            <a:r>
              <a:rPr sz="1500" b="0" i="0">
                <a:solidFill>
                  <a:srgbClr val="4B4877"/>
                </a:solidFill>
                <a:latin typeface="Times New Roman"/>
              </a:rPr>
              <a:t>3 · SCORE — DPP Readiness 0–100 per order (ESPR Art. 8 weights) + the exact gap list.</a:t>
            </a:r>
          </a:p>
          <a:p>
            <a:r>
              <a:rPr sz="1500" b="0" i="0">
                <a:solidFill>
                  <a:srgbClr val="4B4877"/>
                </a:solidFill>
                <a:latin typeface="Times New Roman"/>
              </a:rPr>
              <a:t>4 · PASSPORT — one click → QR; buyers scan and see the verifiable passport.</a:t>
            </a:r>
          </a:p>
          <a:p>
            <a:r>
              <a:rPr sz="1400" b="1" i="0">
                <a:solidFill>
                  <a:srgbClr val="E11D74"/>
                </a:solidFill>
                <a:latin typeface="Times New Roman"/>
              </a:rPr>
              <a:t>19/19 automated engine tests · SHA-256 provenance chain · Bangla + English · offline-tolerant</a:t>
            </a:r>
          </a:p>
        </p:txBody>
      </p:sp>
      <p:pic>
        <p:nvPicPr>
          <p:cNvPr id="133" name="Picture 132" descr="porichoy_da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0000" y="3480000"/>
            <a:ext cx="4560000" cy="2850000"/>
          </a:xfrm>
          <a:prstGeom prst="rect">
            <a:avLst/>
          </a:prstGeom>
        </p:spPr>
      </p:pic>
      <p:pic>
        <p:nvPicPr>
          <p:cNvPr id="134" name="Picture 133" descr="porichoy_p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0000" y="3480000"/>
            <a:ext cx="4560000" cy="2850000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1600000" y="6400000"/>
            <a:ext cx="104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1">
                <a:solidFill>
                  <a:srgbClr val="4B4877"/>
                </a:solidFill>
                <a:latin typeface="Times New Roman"/>
              </a:rPr>
              <a:t>Live pilot app (demo data shown) · evidence page with 16 Crossref-verified studies · grant roadmap: OCR for paper trim cards, ERP/API connectors, multi-factory cloud sync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42" name="Google Shape;14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5"/>
          <p:cNvSpPr txBox="1"/>
          <p:nvPr/>
        </p:nvSpPr>
        <p:spPr>
          <a:xfrm>
            <a:off x="455197" y="410485"/>
            <a:ext cx="7636040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Times New Roman"/>
                <a:ea typeface="Inter"/>
                <a:cs typeface="Inter"/>
                <a:sym typeface="Inter"/>
              </a:rPr>
              <a:t>MARKET SIZE &amp; OPPORTUNITY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5"/>
          <p:cNvSpPr txBox="1"/>
          <p:nvPr/>
        </p:nvSpPr>
        <p:spPr>
          <a:xfrm>
            <a:off x="455197" y="1100000"/>
            <a:ext cx="11281606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1E1B4B"/>
                </a:solidFill>
                <a:latin typeface="Times New Roman"/>
              </a:rPr>
              <a:t>A dated compliance wall creates a forced-adoption market:</a:t>
            </a:r>
            <a:endParaRPr/>
          </a:p>
          <a:p>
            <a:r>
              <a:rPr sz="1500" b="0" i="0">
                <a:solidFill>
                  <a:srgbClr val="4B4877"/>
                </a:solidFill>
                <a:latin typeface="Times New Roman"/>
              </a:rPr>
              <a:t>≈ 4 million RMG workers (BGMEA; majority women) · world’s #2 ready-made garment exporter · Europe is the biggest market · thousands of export factories must be DPP-ready inside the 2027–30 window.</a:t>
            </a:r>
          </a:p>
          <a:p>
            <a:r>
              <a:rPr sz="1500" b="1" i="0">
                <a:solidFill>
                  <a:srgbClr val="1E1B4B"/>
                </a:solidFill>
                <a:latin typeface="Times New Roman"/>
              </a:rPr>
              <a:t>Revenue math on our own pricing (BDT 2,000–8,000 / factory / month):</a:t>
            </a:r>
          </a:p>
          <a:p>
            <a:r>
              <a:rPr sz="1500" b="0" i="0">
                <a:solidFill>
                  <a:srgbClr val="4B4877"/>
                </a:solidFill>
                <a:latin typeface="Times New Roman"/>
              </a:rPr>
              <a:t>100 factories ≈ BDT 60 lakh / year · 1,000 factories ≈ BDT 6 crore / year — before brand-funded onboarding contracts, where buyers pay to bring their suppliers onto passports before the deadline.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55197" y="3600000"/>
            <a:ext cx="2700000" cy="12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9A8D4"/>
                </a:solidFill>
                <a:latin typeface="Times New Roman"/>
              </a:rPr>
              <a:t>≈ 4 million</a:t>
            </a:r>
          </a:p>
          <a:p>
            <a:pPr algn="ctr"/>
            <a:r>
              <a:rPr sz="1150">
                <a:solidFill>
                  <a:srgbClr val="FFFFFF"/>
                </a:solidFill>
                <a:latin typeface="Times New Roman"/>
              </a:rPr>
              <a:t>RMG workers, majority women (BGMEA)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317066" y="3600000"/>
            <a:ext cx="2700000" cy="12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9A8D4"/>
                </a:solidFill>
                <a:latin typeface="Times New Roman"/>
              </a:rPr>
              <a:t>#2 exporter</a:t>
            </a:r>
          </a:p>
          <a:p>
            <a:pPr algn="ctr"/>
            <a:r>
              <a:rPr sz="1150">
                <a:solidFill>
                  <a:srgbClr val="FFFFFF"/>
                </a:solidFill>
                <a:latin typeface="Times New Roman"/>
              </a:rPr>
              <a:t>world RMG — Europe the biggest market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178935" y="3600000"/>
            <a:ext cx="2700000" cy="12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9A8D4"/>
                </a:solidFill>
                <a:latin typeface="Times New Roman"/>
              </a:rPr>
              <a:t>2027–30</a:t>
            </a:r>
          </a:p>
          <a:p>
            <a:pPr algn="ctr"/>
            <a:r>
              <a:rPr sz="1150">
                <a:solidFill>
                  <a:srgbClr val="FFFFFF"/>
                </a:solidFill>
                <a:latin typeface="Times New Roman"/>
              </a:rPr>
              <a:t>EU DPP phase-in; customs auto-checks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9040804" y="3600000"/>
            <a:ext cx="2700000" cy="12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9A8D4"/>
                </a:solidFill>
                <a:latin typeface="Times New Roman"/>
              </a:rPr>
              <a:t>10 → 100+</a:t>
            </a:r>
          </a:p>
          <a:p>
            <a:pPr algn="ctr"/>
            <a:r>
              <a:rPr sz="1150">
                <a:solidFill>
                  <a:srgbClr val="FFFFFF"/>
                </a:solidFill>
                <a:latin typeface="Times New Roman"/>
              </a:rPr>
              <a:t>factories: year-1 pilot → year-3 scale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5197" y="5150000"/>
            <a:ext cx="101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4B4877"/>
                </a:solidFill>
                <a:latin typeface="Times New Roman"/>
              </a:rPr>
              <a:t>Timing is the wedge: buyers already ask, budgets activate before the deadline — and no Bangladesh-built tool serves the factory floor today. Verified competitors are brand-side only.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55" name="Google Shape;15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6"/>
          <p:cNvSpPr txBox="1"/>
          <p:nvPr/>
        </p:nvSpPr>
        <p:spPr>
          <a:xfrm>
            <a:off x="455197" y="232685"/>
            <a:ext cx="7521740" cy="4280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Times New Roman"/>
                <a:ea typeface="Inter"/>
                <a:cs typeface="Inter"/>
                <a:sym typeface="Inter"/>
              </a:rPr>
              <a:t>BUSINESS &amp; REVENUE MODEL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8" name="Google Shape;158;p6"/>
          <p:cNvSpPr txBox="1"/>
          <p:nvPr/>
        </p:nvSpPr>
        <p:spPr>
          <a:xfrm>
            <a:off x="455197" y="1100000"/>
            <a:ext cx="11281606" cy="2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1E1B4B"/>
                </a:solidFill>
                <a:latin typeface="Times New Roman"/>
              </a:rPr>
              <a:t>Three simple revenue lines:</a:t>
            </a:r>
            <a:endParaRPr b="1" sz="20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r>
              <a:rPr sz="1500" b="0" i="0">
                <a:solidFill>
                  <a:srgbClr val="4B4877"/>
                </a:solidFill>
                <a:latin typeface="Times New Roman"/>
              </a:rPr>
              <a:t>1. Factory subscriptions — BDT 2,000–8,000 / month by size (SME-priced, ~10× below enterprise platforms).</a:t>
            </a:r>
          </a:p>
          <a:p>
            <a:r>
              <a:rPr sz="1500" b="0" i="0">
                <a:solidFill>
                  <a:srgbClr val="4B4877"/>
                </a:solidFill>
                <a:latin typeface="Times New Roman"/>
              </a:rPr>
              <a:t>2. Onboarding &amp; data-rescue — one-time fee: steward training + first ingest + mapping historic files.</a:t>
            </a:r>
          </a:p>
          <a:p>
            <a:r>
              <a:rPr sz="1500" b="0" i="0">
                <a:solidFill>
                  <a:srgbClr val="4B4877"/>
                </a:solidFill>
                <a:latin typeface="Times New Roman"/>
              </a:rPr>
              <a:t>3. Brand-funded supplier onboarding — buyers pay to make their supplier base passport-ready before 2027–30.</a:t>
            </a:r>
          </a:p>
          <a:p>
            <a:r>
              <a:rPr sz="1400" b="1" i="0">
                <a:solidFill>
                  <a:srgbClr val="E11D74"/>
                </a:solidFill>
                <a:latin typeface="Times New Roman"/>
              </a:rPr>
              <a:t>Unit economics: onboarding ≈ 2 person-days / factory · software gross margin &gt; 80% · replication is a template, not a project.</a:t>
            </a:r>
          </a:p>
        </p:txBody>
      </p:sp>
      <p:pic>
        <p:nvPicPr>
          <p:cNvPr id="159" name="Picture 158" descr="chart_gra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0000" y="3000000"/>
            <a:ext cx="3952129" cy="2850000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455197" y="3650000"/>
            <a:ext cx="6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E1B4B"/>
                </a:solidFill>
                <a:latin typeface="Times New Roman"/>
              </a:rPr>
              <a:t>Pollination grant (BDT 650,000) funds the 10-factory pilot:</a:t>
            </a:r>
          </a:p>
          <a:p>
            <a:r>
              <a:rPr sz="1400" b="0" i="0">
                <a:solidFill>
                  <a:srgbClr val="4B4877"/>
                </a:solidFill>
                <a:latin typeface="Times New Roman"/>
              </a:rPr>
              <a:t>BDT 220k pilot + steward training · 180k OCR for paper trim cards · 150k mapping corpus (Bangla + ERP formats) · 100k legal &amp; compliance.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68" name="Google Shape;168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7"/>
          <p:cNvSpPr txBox="1"/>
          <p:nvPr/>
        </p:nvSpPr>
        <p:spPr>
          <a:xfrm>
            <a:off x="455197" y="1100000"/>
            <a:ext cx="11281606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4B4877"/>
                </a:solidFill>
                <a:latin typeface="Times New Roman"/>
              </a:rPr>
              <a:t>Competitiveness: customs auto-checks make passport data order-critical — and compliance prep drops from days of file-hunting to under an hour per order.</a:t>
            </a:r>
            <a:endParaRPr b="1" sz="20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r>
              <a:rPr sz="1500" b="0" i="0">
                <a:solidFill>
                  <a:srgbClr val="4B4877"/>
                </a:solidFill>
                <a:latin typeface="Times New Roman"/>
              </a:rPr>
              <a:t>Women: two women operators per factory trained &amp; certified as DPP Data Stewards — formal, higher-skilled roles (20 in year 1 → 200 by year 3, targets). Order-eligibility protects a majority-women workforce (≈ 4 million, BGMEA).</a:t>
            </a:r>
          </a:p>
          <a:p>
            <a:r>
              <a:rPr sz="1500" b="0" i="0">
                <a:solidFill>
                  <a:srgbClr val="4B4877"/>
                </a:solidFill>
                <a:latin typeface="Times New Roman"/>
              </a:rPr>
              <a:t>Circularity: recycled content, certificates and end-of-life routes become machine-checkable passport fields — circularity claims turn into verifiable data.</a:t>
            </a:r>
          </a:p>
        </p:txBody>
      </p:sp>
      <p:sp>
        <p:nvSpPr>
          <p:cNvPr id="171" name="Google Shape;171;p7"/>
          <p:cNvSpPr txBox="1"/>
          <p:nvPr/>
        </p:nvSpPr>
        <p:spPr>
          <a:xfrm>
            <a:off x="455197" y="270785"/>
            <a:ext cx="4867440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Times New Roman"/>
                <a:ea typeface="Inter"/>
                <a:cs typeface="Inter"/>
                <a:sym typeface="Inter"/>
              </a:rPr>
              <a:t>OUR IMPACT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2" name="Picture 171" descr="chart_wom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0000" y="3300000"/>
            <a:ext cx="4700000" cy="2294731"/>
          </a:xfrm>
          <a:prstGeom prst="rect">
            <a:avLst/>
          </a:prstGeom>
        </p:spPr>
      </p:pic>
      <p:pic>
        <p:nvPicPr>
          <p:cNvPr id="173" name="Picture 172" descr="photo_wom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00000" y="3300000"/>
            <a:ext cx="3466666" cy="2600000"/>
          </a:xfrm>
          <a:prstGeom prst="rect">
            <a:avLst/>
          </a:prstGeom>
        </p:spPr>
      </p:pic>
      <p:sp>
        <p:nvSpPr>
          <p:cNvPr id="174" name="TextBox 173"/>
          <p:cNvSpPr txBox="1"/>
          <p:nvPr/>
        </p:nvSpPr>
        <p:spPr>
          <a:xfrm>
            <a:off x="1700000" y="6350000"/>
            <a:ext cx="10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1">
                <a:solidFill>
                  <a:srgbClr val="4B4877"/>
                </a:solidFill>
                <a:latin typeface="Times New Roman"/>
              </a:rPr>
              <a:t>Women-steward ramp: roadmap targets. Photo: RMG factory floor — CC BY 2.0, Wikimedia Commons.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82" name="Google Shape;182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8"/>
          <p:cNvSpPr txBox="1"/>
          <p:nvPr/>
        </p:nvSpPr>
        <p:spPr>
          <a:xfrm>
            <a:off x="556797" y="270785"/>
            <a:ext cx="4867440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Times New Roman"/>
                <a:ea typeface="Inter"/>
                <a:cs typeface="Inter"/>
                <a:sym typeface="Inter"/>
              </a:rPr>
              <a:t>OUR TEAM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5" name="Google Shape;185;p8"/>
          <p:cNvSpPr txBox="1"/>
          <p:nvPr/>
        </p:nvSpPr>
        <p:spPr>
          <a:xfrm>
            <a:off x="1950000" y="1000000"/>
            <a:ext cx="10100000" cy="15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E1B4B"/>
                </a:solidFill>
                <a:latin typeface="Times New Roman"/>
              </a:rPr>
              <a:t>Rudra Sarker — Founder &amp; full-time product engineer. Final-year B.Sc. Industrial &amp; Production Engineering, SUST. Builds every part of Porichoy: the EU-aligned DPP schema, the Bangla/English mapping engine, readiness scoring and the provenance chain.</a:t>
            </a:r>
            <a:endParaRPr/>
          </a:p>
          <a:p>
            <a:r>
              <a:rPr sz="1300" b="0" i="0">
                <a:solidFill>
                  <a:srgbClr val="4B4877"/>
                </a:solidFill>
                <a:latin typeface="Times New Roman"/>
              </a:rPr>
              <a:t>Verified awards: Q1 journal publication — Journal of Ethnopharmacology (Elsevier, 2026), 3rd author · Z.AI Global Ambassador · IEF Bangladesh Ambassador · Secretary, RoboSUST · GaoTek industrial internship.</a:t>
            </a:r>
          </a:p>
          <a:p>
            <a:r>
              <a:rPr sz="1300" b="0" i="0">
                <a:solidFill>
                  <a:srgbClr val="4B4877"/>
                </a:solidFill>
                <a:latin typeface="Times New Roman"/>
              </a:rPr>
              <a:t>Two IPE backgrounds ground us in factory reality; systems engineering makes the software ship. Women lead our steward program by design. No big-name advisers — a live product, public code and 19/19 passing tests speak instead.</a:t>
            </a:r>
          </a:p>
        </p:txBody>
      </p:sp>
      <p:pic>
        <p:nvPicPr>
          <p:cNvPr id="186" name="Picture 185" descr="rudra_cv_phot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353" y="1000000"/>
            <a:ext cx="1300000" cy="1300000"/>
          </a:xfrm>
          <a:prstGeom prst="rect">
            <a:avLst/>
          </a:prstGeom>
        </p:spPr>
      </p:pic>
      <p:sp>
        <p:nvSpPr>
          <p:cNvPr id="187" name="Rounded Rectangle 186"/>
          <p:cNvSpPr/>
          <p:nvPr/>
        </p:nvSpPr>
        <p:spPr>
          <a:xfrm>
            <a:off x="456353" y="2750000"/>
            <a:ext cx="2707000" cy="190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Lutfay Homaira Islam</a:t>
            </a:r>
          </a:p>
          <a:p>
            <a:r>
              <a:rPr sz="1000">
                <a:solidFill>
                  <a:srgbClr val="C7D2FE"/>
                </a:solidFill>
                <a:latin typeface="Times New Roman"/>
              </a:rPr>
              <a:t>SUST · IPE</a:t>
            </a:r>
          </a:p>
          <a:p>
            <a:r>
              <a:rPr sz="1150" b="1">
                <a:solidFill>
                  <a:srgbClr val="F9A8D4"/>
                </a:solidFill>
                <a:latin typeface="Times New Roman"/>
              </a:rPr>
              <a:t>Factory Operations &amp; Pilot Lead</a:t>
            </a:r>
          </a:p>
          <a:p>
            <a:r>
              <a:rPr sz="1050">
                <a:solidFill>
                  <a:srgbClr val="E0E7FF"/>
                </a:solidFill>
                <a:latin typeface="Times New Roman"/>
              </a:rPr>
              <a:t>Process mapping, factory data collection, readiness audits across the pilot factories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3313353" y="2750000"/>
            <a:ext cx="2707000" cy="190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Priom Sarker</a:t>
            </a:r>
          </a:p>
          <a:p>
            <a:r>
              <a:rPr sz="1000">
                <a:solidFill>
                  <a:srgbClr val="C7D2FE"/>
                </a:solidFill>
                <a:latin typeface="Times New Roman"/>
              </a:rPr>
              <a:t>BUET · Naval Architecture &amp; Marine Engineering</a:t>
            </a:r>
          </a:p>
          <a:p>
            <a:r>
              <a:rPr sz="1150" b="1">
                <a:solidFill>
                  <a:srgbClr val="F9A8D4"/>
                </a:solidFill>
                <a:latin typeface="Times New Roman"/>
              </a:rPr>
              <a:t>Systems &amp; Technology Lead</a:t>
            </a:r>
          </a:p>
          <a:p>
            <a:r>
              <a:rPr sz="1050">
                <a:solidFill>
                  <a:srgbClr val="E0E7FF"/>
                </a:solidFill>
                <a:latin typeface="Times New Roman"/>
              </a:rPr>
              <a:t>Systems architecture, ERP/API integrations, technical review of the ingestion pipeline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6170353" y="2750000"/>
            <a:ext cx="2707000" cy="190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Shuvo Kundu</a:t>
            </a:r>
          </a:p>
          <a:p>
            <a:r>
              <a:rPr sz="1000">
                <a:solidFill>
                  <a:srgbClr val="C7D2FE"/>
                </a:solidFill>
                <a:latin typeface="Times New Roman"/>
              </a:rPr>
              <a:t>University of Asia Pacific · EEE</a:t>
            </a:r>
          </a:p>
          <a:p>
            <a:r>
              <a:rPr sz="1150" b="1">
                <a:solidFill>
                  <a:srgbClr val="F9A8D4"/>
                </a:solidFill>
                <a:latin typeface="Times New Roman"/>
              </a:rPr>
              <a:t>Data &amp; Research Lead</a:t>
            </a:r>
          </a:p>
          <a:p>
            <a:r>
              <a:rPr sz="1050">
                <a:solidFill>
                  <a:srgbClr val="E0E7FF"/>
                </a:solidFill>
                <a:latin typeface="Times New Roman"/>
              </a:rPr>
              <a:t>Dataset curation, Bangla mapping-corpus growth, literature &amp; research support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9027353" y="2750000"/>
            <a:ext cx="2707000" cy="190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Samia Hossain</a:t>
            </a:r>
          </a:p>
          <a:p>
            <a:r>
              <a:rPr sz="1000">
                <a:solidFill>
                  <a:srgbClr val="C7D2FE"/>
                </a:solidFill>
                <a:latin typeface="Times New Roman"/>
              </a:rPr>
              <a:t>Anwar Khan Modern University · CSE</a:t>
            </a:r>
          </a:p>
          <a:p>
            <a:r>
              <a:rPr sz="1150" b="1">
                <a:solidFill>
                  <a:srgbClr val="F9A8D4"/>
                </a:solidFill>
                <a:latin typeface="Times New Roman"/>
              </a:rPr>
              <a:t>Steward Training &amp; Outreach Lead</a:t>
            </a:r>
          </a:p>
          <a:p>
            <a:r>
              <a:rPr sz="1050">
                <a:solidFill>
                  <a:srgbClr val="E0E7FF"/>
                </a:solidFill>
                <a:latin typeface="Times New Roman"/>
              </a:rPr>
              <a:t>Runs the women DPP Data Steward training program and factory outreach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1700000" y="5000000"/>
            <a:ext cx="10035000" cy="80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Live: rudra496.github.io/porichoy  ·  code: github.com/rudra496/porichoy  ·  19/19 engine tests  ·  launched Aug 2026</a:t>
            </a:r>
          </a:p>
          <a:p>
            <a:pPr algn="ctr"/>
            <a:r>
              <a:rPr sz="1150" i="1">
                <a:solidFill>
                  <a:srgbClr val="F9A8D4"/>
                </a:solidFill>
                <a:latin typeface="Times New Roman"/>
              </a:rPr>
              <a:t>Everything we claim is checkable — that is the product’s whole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9"/>
          <p:cNvSpPr txBox="1"/>
          <p:nvPr/>
        </p:nvSpPr>
        <p:spPr>
          <a:xfrm>
            <a:off x="4234099" y="4194104"/>
            <a:ext cx="3023463" cy="150357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t/>
            </a:r>
            <a:endParaRPr b="1" sz="20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Logo&#10;&#10;Description automatically generated" id="197" name="Google Shape;197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9"/>
          <p:cNvSpPr txBox="1"/>
          <p:nvPr>
            <p:ph type="ctrTitle"/>
          </p:nvPr>
        </p:nvSpPr>
        <p:spPr>
          <a:xfrm>
            <a:off x="1173830" y="1480086"/>
            <a:ext cx="9144000" cy="9677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ts val="6000"/>
              <a:buFont typeface="Inter"/>
              <a:buNone/>
            </a:pPr>
            <a:r>
              <a:rPr b="1" lang="en-US">
                <a:solidFill>
                  <a:srgbClr val="142346"/>
                </a:solidFill>
                <a:latin typeface="Times New Roman"/>
                <a:ea typeface="Inter"/>
                <a:cs typeface="Inter"/>
                <a:sym typeface="Inter"/>
              </a:rPr>
              <a:t>THANK YOU</a:t>
            </a:r>
            <a:endParaRPr b="1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9"/>
          <p:cNvSpPr txBox="1"/>
          <p:nvPr/>
        </p:nvSpPr>
        <p:spPr>
          <a:xfrm>
            <a:off x="467726" y="2890913"/>
            <a:ext cx="11073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1E1B4B"/>
                </a:solidFill>
                <a:latin typeface="Times New Roman"/>
              </a:rPr>
              <a:t>Name:  Rudra Sarker — Founder, Porichoy</a:t>
            </a:r>
            <a:endParaRPr b="1"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500" b="0" i="0">
                <a:solidFill>
                  <a:srgbClr val="4B4877"/>
                </a:solidFill>
                <a:latin typeface="Times New Roman"/>
              </a:rPr>
              <a:t>Phone:  +8801988223165</a:t>
            </a:r>
          </a:p>
          <a:p>
            <a:r>
              <a:rPr sz="1500" b="0" i="0">
                <a:solidFill>
                  <a:srgbClr val="4B4877"/>
                </a:solidFill>
                <a:latin typeface="Times New Roman"/>
              </a:rPr>
              <a:t>Email:  rudrasarker125@gmail.com</a:t>
            </a:r>
          </a:p>
          <a:p>
            <a:r>
              <a:rPr sz="1500" b="1" i="0">
                <a:solidFill>
                  <a:srgbClr val="4F46E5"/>
                </a:solidFill>
                <a:latin typeface="Times New Roman"/>
              </a:rPr>
              <a:t>Live product:  rudra496.github.io/porichoy  ·  Code:  github.com/rudra496/porichoy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2023-07-03T12:09:51Z</dcterms:created>
  <dc:creator>Rudra Sarker</dc:creator>
  <dc:title>Porichoy - DPP-in-a-Box | Needle Innovation Challenge 3.0</dc:title>
  <dc:subject>Factory-side EU Digital Product Passports for Bangladesh RMG, powered by women data stewards</dc:subject>
  <cp:keywords>DPP; ESPR; traceability; Bangladesh RMG; women; NIC 3.0</cp:keywords>
  <dc:description>All claims verified (Crossref 2026-09-13, EC ESPR, BGMEA). Live app: rudra496.github.io/porichoy</dc:description>
</cp:coreProperties>
</file>