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481328"/>
          </a:xfrm>
          <a:prstGeom prst="rect">
            <a:avLst/>
          </a:prstGeom>
          <a:solidFill>
            <a:srgbClr val="1E1B4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01168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Porichoy </a:t>
            </a:r>
            <a:pPr indent="0" marL="0">
              <a:buNone/>
            </a:pPr>
            <a:r>
              <a:rPr lang="en-US" sz="3000" b="1" dirty="0">
                <a:solidFill>
                  <a:srgbClr val="F9A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(পরিচয়)</a:t>
            </a:r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DPP-in-a-Box for Bangladesh’s garment factories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21208" y="914400"/>
            <a:ext cx="11155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“Identity.” Every garment gets a verifiable identity — before the EU’s 2027 wall.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02920" y="178308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 — a dated wall is coming for the industry’s biggest market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2331720"/>
            <a:ext cx="7315200" cy="1078992"/>
          </a:xfrm>
          <a:prstGeom prst="roundRect">
            <a:avLst>
              <a:gd name="adj" fmla="val 7627"/>
            </a:avLst>
          </a:prstGeom>
          <a:solidFill>
            <a:srgbClr val="F6F6FB"/>
          </a:solidFill>
          <a:ln w="12700">
            <a:solidFill>
              <a:srgbClr val="E5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404872"/>
            <a:ext cx="6903720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2027, EU Digital Product Passports (DPP) phase in.</a:t>
            </a:r>
            <a:pPr indent="0" marL="0">
              <a:buNone/>
            </a:pPr>
            <a:r>
              <a:rPr lang="en-US" sz="1550" dirty="0">
                <a:solidFill>
                  <a:srgbClr val="4B48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ESPR in force 18 Jul 2024 · textiles in the first Working Plan (Apr 2025) · textile delegated act expected ~2027.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02920" y="3557016"/>
            <a:ext cx="7315200" cy="1078992"/>
          </a:xfrm>
          <a:prstGeom prst="roundRect">
            <a:avLst>
              <a:gd name="adj" fmla="val 7627"/>
            </a:avLst>
          </a:prstGeom>
          <a:solidFill>
            <a:srgbClr val="F6F6FB"/>
          </a:solidFill>
          <a:ln w="12700">
            <a:solidFill>
              <a:srgbClr val="E5E4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3630168"/>
            <a:ext cx="6903720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customs will auto-check DPP existence &amp; authenticity on imported garments</a:t>
            </a:r>
            <a:pPr indent="0" marL="0">
              <a:buNone/>
            </a:pPr>
            <a:r>
              <a:rPr lang="en-US" sz="1550" dirty="0">
                <a:solidFill>
                  <a:srgbClr val="4B48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(European Commission). A factory that cannot produce passport data loses EU orders.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502920" y="4782312"/>
            <a:ext cx="7315200" cy="1078992"/>
          </a:xfrm>
          <a:prstGeom prst="roundRect">
            <a:avLst>
              <a:gd name="adj" fmla="val 7627"/>
            </a:avLst>
          </a:prstGeom>
          <a:solidFill>
            <a:srgbClr val="F6F6FB"/>
          </a:solidFill>
          <a:ln w="12700">
            <a:solidFill>
              <a:srgbClr val="E5E4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4855464"/>
            <a:ext cx="6903720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already exists — but it is scattered</a:t>
            </a:r>
            <a:pPr indent="0" marL="0">
              <a:buNone/>
            </a:pPr>
            <a:r>
              <a:rPr lang="en-US" sz="1550" dirty="0">
                <a:solidFill>
                  <a:srgbClr val="4B48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Excel files with mixed Bangla/English headers, legacy ERP exports and paper trim cards. Global platforms will not climb onto the factory floor to collect it.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8092440" y="2331720"/>
            <a:ext cx="3611880" cy="3529584"/>
          </a:xfrm>
          <a:prstGeom prst="roundRect">
            <a:avLst>
              <a:gd name="adj" fmla="val 2332"/>
            </a:avLst>
          </a:prstGeom>
          <a:solidFill>
            <a:srgbClr val="1E1B4B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251460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A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AT STAKE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321040" y="2880360"/>
            <a:ext cx="320040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4 million</a:t>
            </a:r>
            <a:endParaRPr lang="en-US" sz="3000" dirty="0"/>
          </a:p>
          <a:p>
            <a:pPr indent="0" marL="0">
              <a:buNone/>
            </a:pPr>
            <a:r>
              <a:rPr lang="en-US" sz="13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RMG workers in Bangladesh, the majority women (BGMEA)</a:t>
            </a:r>
            <a:endParaRPr lang="en-US" sz="3000" dirty="0"/>
          </a:p>
          <a:p>
            <a:pPr indent="0" marL="0">
              <a:buNone/>
            </a:pPr>
            <a:endParaRPr lang="en-US" sz="30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#2 exporter,</a:t>
            </a:r>
            <a:endParaRPr lang="en-US" sz="3000" dirty="0"/>
          </a:p>
          <a:p>
            <a:pPr indent="0" marL="0">
              <a:buNone/>
            </a:pPr>
            <a:r>
              <a:rPr lang="en-US" sz="13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world’s ready-made garments — “Europe is our biggest market” (NIC 3.0 call)</a:t>
            </a:r>
            <a:endParaRPr lang="en-US" sz="3000" dirty="0"/>
          </a:p>
          <a:p>
            <a:pPr indent="0" marL="0">
              <a:buNone/>
            </a:pPr>
            <a:endParaRPr lang="en-US" sz="30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9A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2027–30:</a:t>
            </a:r>
            <a:endParaRPr lang="en-US" sz="3000" dirty="0"/>
          </a:p>
          <a:p>
            <a:pPr indent="0" marL="0">
              <a:buNone/>
            </a:pPr>
            <a:r>
              <a:rPr lang="en-US" sz="13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DPP obligations phase in on the EU side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502920" y="6473952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48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Porichoy (পরিচয়) — Needle Innovation Challenge 3.0 · slide 1/6 · every claim verified, sources on the live Method page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11155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OPPORTUNITY — compliance budget meets an empty factory-floor square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02920" y="1143000"/>
            <a:ext cx="2697480" cy="960120"/>
          </a:xfrm>
          <a:prstGeom prst="roundRect">
            <a:avLst>
              <a:gd name="adj" fmla="val 8571"/>
            </a:avLst>
          </a:prstGeom>
          <a:solidFill>
            <a:srgbClr val="1E1B4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216152"/>
            <a:ext cx="2423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9A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Jul 2024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ESPR in force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3346704" y="1143000"/>
            <a:ext cx="2697480" cy="960120"/>
          </a:xfrm>
          <a:prstGeom prst="roundRect">
            <a:avLst>
              <a:gd name="adj" fmla="val 8571"/>
            </a:avLst>
          </a:prstGeom>
          <a:solidFill>
            <a:srgbClr val="1E1B4B"/>
          </a:solidFill>
          <a:ln/>
        </p:spPr>
      </p:sp>
      <p:sp>
        <p:nvSpPr>
          <p:cNvPr id="6" name="Text 4"/>
          <p:cNvSpPr/>
          <p:nvPr/>
        </p:nvSpPr>
        <p:spPr>
          <a:xfrm>
            <a:off x="3483864" y="1216152"/>
            <a:ext cx="2423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9A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 2025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1st Working Plan — textiles priority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190488" y="1143000"/>
            <a:ext cx="2697480" cy="960120"/>
          </a:xfrm>
          <a:prstGeom prst="roundRect">
            <a:avLst>
              <a:gd name="adj" fmla="val 8571"/>
            </a:avLst>
          </a:prstGeom>
          <a:solidFill>
            <a:srgbClr val="1E1B4B"/>
          </a:solidFill>
          <a:ln/>
        </p:spPr>
      </p:sp>
      <p:sp>
        <p:nvSpPr>
          <p:cNvPr id="8" name="Text 6"/>
          <p:cNvSpPr/>
          <p:nvPr/>
        </p:nvSpPr>
        <p:spPr>
          <a:xfrm>
            <a:off x="6327648" y="1216152"/>
            <a:ext cx="2423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9A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~2027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Textile delegated act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9034272" y="1143000"/>
            <a:ext cx="2697480" cy="960120"/>
          </a:xfrm>
          <a:prstGeom prst="roundRect">
            <a:avLst>
              <a:gd name="adj" fmla="val 8571"/>
            </a:avLst>
          </a:prstGeom>
          <a:solidFill>
            <a:srgbClr val="1E1B4B"/>
          </a:solidFill>
          <a:ln/>
        </p:spPr>
      </p:sp>
      <p:sp>
        <p:nvSpPr>
          <p:cNvPr id="10" name="Text 8"/>
          <p:cNvSpPr/>
          <p:nvPr/>
        </p:nvSpPr>
        <p:spPr>
          <a:xfrm>
            <a:off x="9171432" y="1216152"/>
            <a:ext cx="2423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9A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2027–30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DPP obligations phase in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02920" y="228600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B48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export factory shipping to Europe must be DPP-ready inside this window — thousands of factories (BGMEA member base), no BD-built tool exists for them.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02920" y="2971800"/>
            <a:ext cx="3611880" cy="2651760"/>
          </a:xfrm>
          <a:prstGeom prst="roundRect">
            <a:avLst>
              <a:gd name="adj" fmla="val 3103"/>
            </a:avLst>
          </a:prstGeom>
          <a:solidFill>
            <a:srgbClr val="F6F6FB"/>
          </a:solidFill>
          <a:ln w="12700">
            <a:solidFill>
              <a:srgbClr val="E5E4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3200400"/>
            <a:ext cx="3154680" cy="384048"/>
          </a:xfrm>
          <a:prstGeom prst="roundRect">
            <a:avLst>
              <a:gd name="adj" fmla="val 50000"/>
            </a:avLst>
          </a:prstGeom>
          <a:solidFill>
            <a:srgbClr val="E11D7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Brand-side DPP SaaS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31520" y="3749040"/>
            <a:ext cx="31546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TrusTrace · TextileGenesis · Reverse Resources</a:t>
            </a:r>
            <a:endParaRPr lang="en-US" sz="1350" dirty="0"/>
          </a:p>
          <a:p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1400" dirty="0">
                <a:solidFill>
                  <a:srgbClr val="4B48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pricing, English-first, consume clean data — they do NOT capture at the BD factory floor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4261104" y="2971800"/>
            <a:ext cx="3611880" cy="2651760"/>
          </a:xfrm>
          <a:prstGeom prst="roundRect">
            <a:avLst>
              <a:gd name="adj" fmla="val 3103"/>
            </a:avLst>
          </a:prstGeom>
          <a:solidFill>
            <a:srgbClr val="F6F6FB"/>
          </a:solidFill>
          <a:ln w="12700">
            <a:solidFill>
              <a:srgbClr val="E5E4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89704" y="3200400"/>
            <a:ext cx="3154680" cy="384048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Consultancies &amp; audits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489704" y="3749040"/>
            <a:ext cx="31546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Big-4 / compliance firms</a:t>
            </a:r>
            <a:endParaRPr lang="en-US" sz="1350" dirty="0"/>
          </a:p>
          <a:p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1400" dirty="0">
                <a:solidFill>
                  <a:srgbClr val="4B48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Expensive, per-visit, no product — costs recur, nothing is learned or reused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8019288" y="2971800"/>
            <a:ext cx="3611880" cy="2651760"/>
          </a:xfrm>
          <a:prstGeom prst="roundRect">
            <a:avLst>
              <a:gd name="adj" fmla="val 3103"/>
            </a:avLst>
          </a:prstGeom>
          <a:solidFill>
            <a:srgbClr val="F6F6FB"/>
          </a:solidFill>
          <a:ln w="12700">
            <a:solidFill>
              <a:srgbClr val="E5E4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47888" y="3200400"/>
            <a:ext cx="3154680" cy="384048"/>
          </a:xfrm>
          <a:prstGeom prst="roundRect">
            <a:avLst>
              <a:gd name="adj" fmla="val 50000"/>
            </a:avLst>
          </a:prstGeom>
          <a:solidFill>
            <a:srgbClr val="15803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Porichoy’s square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247888" y="3749040"/>
            <a:ext cx="31546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BD last-mile data engine</a:t>
            </a:r>
            <a:endParaRPr lang="en-US" sz="1350" dirty="0"/>
          </a:p>
          <a:p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1400" dirty="0">
                <a:solidFill>
                  <a:srgbClr val="4B48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Sits at the factory, speaks Bangla, feeds ANY platform — partner to the global players, not a rival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502920" y="5852160"/>
            <a:ext cx="11155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Beachhead: mid-size exporters facing live buyer DPP requests → expand to buying houses and certification bodies.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502920" y="6473952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48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Porichoy (পরিচয়) — Needle Innovation Challenge 3.0 · slide 2/6 · every claim verified, sources on the live Method page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11155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 — messy factory files in, buyer-ready passport out, in 90 seconds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02920" y="1188720"/>
            <a:ext cx="5577840" cy="1024128"/>
          </a:xfrm>
          <a:prstGeom prst="roundRect">
            <a:avLst>
              <a:gd name="adj" fmla="val 8036"/>
            </a:avLst>
          </a:prstGeom>
          <a:solidFill>
            <a:srgbClr val="F6F6FB"/>
          </a:solidFill>
          <a:ln w="12700">
            <a:solidFill>
              <a:srgbClr val="E5E4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13232" y="1243584"/>
            <a:ext cx="5212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11D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INGEST   </a:t>
            </a:r>
            <a:pPr indent="0" marL="0">
              <a:buNone/>
            </a:pPr>
            <a:r>
              <a:rPr lang="en-US" sz="1250" dirty="0">
                <a:solidFill>
                  <a:srgbClr val="4B48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Excel/CSV — every sheet parsed on-device. Nothing leaves the factory (local-first).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02920" y="2350008"/>
            <a:ext cx="5577840" cy="1024128"/>
          </a:xfrm>
          <a:prstGeom prst="roundRect">
            <a:avLst>
              <a:gd name="adj" fmla="val 8036"/>
            </a:avLst>
          </a:prstGeom>
          <a:solidFill>
            <a:srgbClr val="F6F6FB"/>
          </a:solidFill>
          <a:ln w="12700">
            <a:solidFill>
              <a:srgbClr val="E5E4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2404872"/>
            <a:ext cx="5212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11D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MAP   </a:t>
            </a:r>
            <a:pPr indent="0" marL="0">
              <a:buNone/>
            </a:pPr>
            <a:r>
              <a:rPr lang="en-US" sz="1250" dirty="0">
                <a:solidFill>
                  <a:srgbClr val="4B48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reads chaotic headers — Bangla, English, mixed — with confidence scores; the steward confirms. The factory’s vocabulary is learned.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02920" y="3511296"/>
            <a:ext cx="5577840" cy="1024128"/>
          </a:xfrm>
          <a:prstGeom prst="roundRect">
            <a:avLst>
              <a:gd name="adj" fmla="val 8036"/>
            </a:avLst>
          </a:prstGeom>
          <a:solidFill>
            <a:srgbClr val="F6F6FB"/>
          </a:solidFill>
          <a:ln w="12700">
            <a:solidFill>
              <a:srgbClr val="E5E4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3566160"/>
            <a:ext cx="5212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11D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SCORE   </a:t>
            </a:r>
            <a:pPr indent="0" marL="0">
              <a:buNone/>
            </a:pPr>
            <a:r>
              <a:rPr lang="en-US" sz="1250" dirty="0">
                <a:solidFill>
                  <a:srgbClr val="4B48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DPP Readiness 0–100 per production order (weight = ESPR Art. 8 categories) with the exact gap list.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502920" y="4672584"/>
            <a:ext cx="5577840" cy="1024128"/>
          </a:xfrm>
          <a:prstGeom prst="roundRect">
            <a:avLst>
              <a:gd name="adj" fmla="val 8036"/>
            </a:avLst>
          </a:prstGeom>
          <a:solidFill>
            <a:srgbClr val="F6F6FB"/>
          </a:solidFill>
          <a:ln w="12700">
            <a:solidFill>
              <a:srgbClr val="E5E4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4727448"/>
            <a:ext cx="5212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11D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PASSPORT   </a:t>
            </a:r>
            <a:pPr indent="0" marL="0">
              <a:buNone/>
            </a:pPr>
            <a:r>
              <a:rPr lang="en-US" sz="1250" dirty="0">
                <a:solidFill>
                  <a:srgbClr val="4B48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click → QR code whose link embeds the passport — scan opens the buyer view on any phone. No backend needed.</a:t>
            </a:r>
            <a:endParaRPr lang="en-US" sz="1450" dirty="0"/>
          </a:p>
        </p:txBody>
      </p:sp>
      <p:pic>
        <p:nvPicPr>
          <p:cNvPr id="11" name="Image 0" descr="passpo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1188720"/>
            <a:ext cx="2788920" cy="365760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9372600" y="1188720"/>
            <a:ext cx="2331720" cy="3657600"/>
          </a:xfrm>
          <a:prstGeom prst="roundRect">
            <a:avLst>
              <a:gd name="adj" fmla="val 3529"/>
            </a:avLst>
          </a:prstGeom>
          <a:solidFill>
            <a:srgbClr val="1E1B4B"/>
          </a:solidFill>
          <a:ln/>
        </p:spPr>
      </p:sp>
      <p:sp>
        <p:nvSpPr>
          <p:cNvPr id="13" name="Text 10"/>
          <p:cNvSpPr/>
          <p:nvPr/>
        </p:nvSpPr>
        <p:spPr>
          <a:xfrm>
            <a:off x="9555480" y="1371600"/>
            <a:ext cx="201168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A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TODAY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rudra496.github.io/ porichoy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5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automated engine tests</a:t>
            </a:r>
            <a:endParaRPr lang="en-US" sz="1400" dirty="0"/>
          </a:p>
          <a:p>
            <a:pPr indent="0" marL="0">
              <a:buNone/>
            </a:pPr>
            <a:r>
              <a:rPr lang="en-US" sz="125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SHA-256 provenance chain</a:t>
            </a:r>
            <a:endParaRPr lang="en-US" sz="1400" dirty="0"/>
          </a:p>
          <a:p>
            <a:pPr indent="0" marL="0">
              <a:buNone/>
            </a:pPr>
            <a:r>
              <a:rPr lang="en-US" sz="125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Bangla + English UI</a:t>
            </a:r>
            <a:endParaRPr lang="en-US" sz="1400" dirty="0"/>
          </a:p>
          <a:p>
            <a:pPr indent="0" marL="0">
              <a:buNone/>
            </a:pPr>
            <a:r>
              <a:rPr lang="en-US" sz="125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offline (PWA)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150" i="1" dirty="0">
                <a:solidFill>
                  <a:srgbClr val="F9A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versioned — the final EU delegated act is a config change, not a rebuild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502920" y="5897880"/>
            <a:ext cx="11155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attribute on the passport carries its ESPR legal anchor and the exact source column it came from — auditable by design.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502920" y="6473952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48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Porichoy (পরিচয়) — Needle Innovation Challenge 3.0 · slide 3/6 · every claim verified, sources on the live Method page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11155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&amp; REVENUE MODEL — factories pay little; brands pay to make suppliers compliant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02920" y="1188720"/>
            <a:ext cx="6035040" cy="1051560"/>
          </a:xfrm>
          <a:prstGeom prst="roundRect">
            <a:avLst>
              <a:gd name="adj" fmla="val 7826"/>
            </a:avLst>
          </a:prstGeom>
          <a:solidFill>
            <a:srgbClr val="F6F6FB"/>
          </a:solidFill>
          <a:ln w="12700">
            <a:solidFill>
              <a:srgbClr val="E5E4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280160"/>
            <a:ext cx="5577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Factory SaaS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4B48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BDT 2,000–8,000 / month per factory by size — priced for SMEs, not enterprise budgets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02920" y="2377440"/>
            <a:ext cx="6035040" cy="1051560"/>
          </a:xfrm>
          <a:prstGeom prst="roundRect">
            <a:avLst>
              <a:gd name="adj" fmla="val 7826"/>
            </a:avLst>
          </a:prstGeom>
          <a:solidFill>
            <a:srgbClr val="F6F6FB"/>
          </a:solidFill>
          <a:ln w="12700">
            <a:solidFill>
              <a:srgbClr val="E5E4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2468880"/>
            <a:ext cx="5577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&amp; data-rescue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4B48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One-time fee: steward training + first ingest + mapping of the factory’s historic files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" y="3566160"/>
            <a:ext cx="6035040" cy="1051560"/>
          </a:xfrm>
          <a:prstGeom prst="roundRect">
            <a:avLst>
              <a:gd name="adj" fmla="val 7826"/>
            </a:avLst>
          </a:prstGeom>
          <a:solidFill>
            <a:srgbClr val="F6F6FB"/>
          </a:solidFill>
          <a:ln w="12700">
            <a:solidFill>
              <a:srgbClr val="E5E4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657600"/>
            <a:ext cx="5577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Brand-funded onboarding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4B48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Brands pay to onboard their supplier base before 2027 — CAC moves to the party with the money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02920" y="4800600"/>
            <a:ext cx="6035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economics: </a:t>
            </a:r>
            <a:pPr indent="0" marL="0">
              <a:buNone/>
            </a:pPr>
            <a:r>
              <a:rPr lang="en-US" sz="1400" dirty="0">
                <a:solidFill>
                  <a:srgbClr val="4B48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≈ 2 person-days per factory · software gross margin &gt;80% · replication is a per-factory template, not a project.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0" y="1188720"/>
            <a:ext cx="4846320" cy="4389120"/>
          </a:xfrm>
          <a:prstGeom prst="roundRect">
            <a:avLst>
              <a:gd name="adj" fmla="val 1875"/>
            </a:avLst>
          </a:prstGeom>
          <a:solidFill>
            <a:srgbClr val="1E1B4B"/>
          </a:solidFill>
          <a:ln/>
        </p:spPr>
      </p:sp>
      <p:sp>
        <p:nvSpPr>
          <p:cNvPr id="11" name="Text 9"/>
          <p:cNvSpPr/>
          <p:nvPr/>
        </p:nvSpPr>
        <p:spPr>
          <a:xfrm>
            <a:off x="7086600" y="137160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A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OF THE BDT 650,000 POLLINATION GRANT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086600" y="182880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BDT 220,000  </a:t>
            </a:r>
            <a:pPr indent="0" marL="0">
              <a:buNone/>
            </a:pPr>
            <a:r>
              <a:rPr lang="en-US" sz="125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10-factory pilot: steward training curriculum + certification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086600" y="2615184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BDT 180,000  </a:t>
            </a:r>
            <a:pPr indent="0" marL="0">
              <a:buNone/>
            </a:pPr>
            <a:r>
              <a:rPr lang="en-US" sz="125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 capture for paper trim cards &amp; POs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086600" y="3401568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BDT 150,000  </a:t>
            </a:r>
            <a:pPr indent="0" marL="0">
              <a:buNone/>
            </a:pPr>
            <a:r>
              <a:rPr lang="en-US" sz="125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Mapping-corpus growth: Bangla vocabulary, ERP export formats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086600" y="4187952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BDT 100,000  </a:t>
            </a:r>
            <a:pPr indent="0" marL="0">
              <a:buNone/>
            </a:pPr>
            <a:r>
              <a:rPr lang="en-US" sz="125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entity, certification &amp; data protection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086600" y="502920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9A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3-year path: 10 pilot factories → 100 → buyer-channel partnerships with global DPP platforms.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02920" y="6473952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48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Porichoy (পরিচয়) — Needle Innovation Challenge 3.0 · slide 4/6 · every claim verified, sources on the live Method page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11155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— a builder who ships production systems alone, with the right domain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02920" y="1234440"/>
            <a:ext cx="6766560" cy="4480560"/>
          </a:xfrm>
          <a:prstGeom prst="roundRect">
            <a:avLst>
              <a:gd name="adj" fmla="val 1837"/>
            </a:avLst>
          </a:prstGeom>
          <a:solidFill>
            <a:srgbClr val="F6F6FB"/>
          </a:solidFill>
          <a:ln w="12700">
            <a:solidFill>
              <a:srgbClr val="E5E4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1463040"/>
            <a:ext cx="621792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Rudra Sarker — Founder &amp; Engineer</a:t>
            </a:r>
            <a:endParaRPr lang="en-US" sz="2200" dirty="0"/>
          </a:p>
          <a:p>
            <a:pPr indent="0" marL="0">
              <a:buNone/>
            </a:pPr>
            <a:r>
              <a:rPr lang="en-US" sz="1500" dirty="0">
                <a:solidFill>
                  <a:srgbClr val="4B48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Final-year B.Sc. Industrial &amp; Production Engineering, Shahjalal University of Science &amp; Technology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15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Ships alone, at production grade:</a:t>
            </a:r>
            <a:endParaRPr lang="en-US" sz="2200" dirty="0"/>
          </a:p>
          <a:p>
            <a:pPr indent="0" marL="0">
              <a:buNone/>
            </a:pPr>
            <a:r>
              <a:rPr lang="en-US" sz="1350" dirty="0">
                <a:solidFill>
                  <a:srgbClr val="4B48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AdalatAI — AI-assisted court workflow platform; trained a 30-type trilingual case classifier (F1 0.963 over a 1.28M-case corpus), live since 2026</a:t>
            </a:r>
            <a:endParaRPr lang="en-US" sz="2200" dirty="0"/>
          </a:p>
          <a:p>
            <a:pPr indent="0" marL="0">
              <a:buNone/>
            </a:pPr>
            <a:r>
              <a:rPr lang="en-US" sz="1350" dirty="0">
                <a:solidFill>
                  <a:srgbClr val="4B48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JolSetu — arsenic-testing PWA reading $1 test kits by photo; live map of 6,593 real wells; competition deck judge-passed 15/15</a:t>
            </a:r>
            <a:endParaRPr lang="en-US" sz="2200" dirty="0"/>
          </a:p>
          <a:p>
            <a:pPr indent="0" marL="0">
              <a:buNone/>
            </a:pPr>
            <a:r>
              <a:rPr lang="en-US" sz="1350" dirty="0">
                <a:solidFill>
                  <a:srgbClr val="4B48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RippleUp — production Android + Windows desktop app (Kotlin/Compose Multiplatform), release v5.3.3</a:t>
            </a:r>
            <a:endParaRPr lang="en-US" sz="2200" dirty="0"/>
          </a:p>
          <a:p>
            <a:pPr indent="0" marL="0">
              <a:buNone/>
            </a:pPr>
            <a:r>
              <a:rPr lang="en-US" sz="1350" dirty="0">
                <a:solidFill>
                  <a:srgbClr val="4B48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StealthHumanizer — self-trained LLM system served from a VPS, 45s/request at production</a:t>
            </a:r>
            <a:endParaRPr lang="en-US" sz="2200" dirty="0"/>
          </a:p>
          <a:p>
            <a:pPr indent="0" marL="0">
              <a:buNone/>
            </a:pPr>
            <a:r>
              <a:rPr lang="en-US" sz="1350" dirty="0">
                <a:solidFill>
                  <a:srgbClr val="4B48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Published Q1 journal article (Journal of Ethnopharmacology, 2026, 3rd author)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1400" i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me for THIS product: factory-process engineering (IPE) + production LLM pipelines + a proven 3-week ship velocity — the exact stack Porichoy needs.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7543800" y="1234440"/>
            <a:ext cx="4160520" cy="4480560"/>
          </a:xfrm>
          <a:prstGeom prst="roundRect">
            <a:avLst>
              <a:gd name="adj" fmla="val 1978"/>
            </a:avLst>
          </a:prstGeom>
          <a:solidFill>
            <a:srgbClr val="1E1B4B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0" y="1463040"/>
            <a:ext cx="3703320" cy="4023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A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ASK FROM NIC 3.0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pollination grant to fund the 10-factory pilot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Bootcamp mentoring on RMG business models &amp; circularity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 intros: 2–3 pilot factories + one buyer sustainability team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300" i="1" dirty="0">
                <a:solidFill>
                  <a:srgbClr val="F9A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Full-time commitment. Ready for the residential bootcamps.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02920" y="6473952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48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Porichoy (পরিচয়) — Needle Innovation Challenge 3.0 · slide 5/6 · every claim verified, sources on the live Method page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E11D74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11155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WOMEN AT THE CENTER — designed in from the first commit, not bolted 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3611880" cy="2514600"/>
          </a:xfrm>
          <a:prstGeom prst="roundRect">
            <a:avLst>
              <a:gd name="adj" fmla="val 3273"/>
            </a:avLst>
          </a:prstGeom>
          <a:solidFill>
            <a:srgbClr val="F6F6FB"/>
          </a:solidFill>
          <a:ln w="12700">
            <a:solidFill>
              <a:srgbClr val="E5E4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463040"/>
            <a:ext cx="3154680" cy="384048"/>
          </a:xfrm>
          <a:prstGeom prst="roundRect">
            <a:avLst>
              <a:gd name="adj" fmla="val 50000"/>
            </a:avLst>
          </a:prstGeom>
          <a:solidFill>
            <a:srgbClr val="E11D7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SKILLED JOBS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2057400"/>
            <a:ext cx="31546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B48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women operators per factory trained and certified as DPP Data Stewards — formal, higher-skilled back-office roles with a public micro-credential.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4261104" y="1234440"/>
            <a:ext cx="3611880" cy="2514600"/>
          </a:xfrm>
          <a:prstGeom prst="roundRect">
            <a:avLst>
              <a:gd name="adj" fmla="val 3273"/>
            </a:avLst>
          </a:prstGeom>
          <a:solidFill>
            <a:srgbClr val="F6F6FB"/>
          </a:solidFill>
          <a:ln w="12700">
            <a:solidFill>
              <a:srgbClr val="E5E4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89704" y="1463040"/>
            <a:ext cx="3154680" cy="38404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JOBS PROTECTED AT SCALE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489704" y="2057400"/>
            <a:ext cx="31546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B48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customs auto-checks mean non-compliant factories lose orders. Keeping factories order-eligible protects the livelihoods of a majority-women workforce (≈4M workers, BGMEA).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8019288" y="1234440"/>
            <a:ext cx="3611880" cy="2514600"/>
          </a:xfrm>
          <a:prstGeom prst="roundRect">
            <a:avLst>
              <a:gd name="adj" fmla="val 3273"/>
            </a:avLst>
          </a:prstGeom>
          <a:solidFill>
            <a:srgbClr val="F6F6FB"/>
          </a:solidFill>
          <a:ln w="12700">
            <a:solidFill>
              <a:srgbClr val="E5E4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47888" y="1463040"/>
            <a:ext cx="3154680" cy="384048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BURDEN → CAREER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247888" y="2057400"/>
            <a:ext cx="31546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B48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paperwork done ad-hoc — often by women staff — becomes a titled role with training, certification and a visible career path.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02920" y="4023360"/>
            <a:ext cx="11201400" cy="1554480"/>
          </a:xfrm>
          <a:prstGeom prst="roundRect">
            <a:avLst>
              <a:gd name="adj" fmla="val 5294"/>
            </a:avLst>
          </a:prstGeom>
          <a:solidFill>
            <a:srgbClr val="1E1B4B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4224528"/>
            <a:ext cx="106984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9A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YEAR-1 TARGETS  </a:t>
            </a:r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factories onboarded · 20 women certified as DPP Data Stewards · 40+ women trained · first brand-funded onboarding contract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9A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 </a:t>
            </a:r>
            <a:pPr indent="0" marL="0">
              <a:buNone/>
            </a:pPr>
            <a:r>
              <a:rPr lang="en-US" sz="145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100+ factories → 200+ stewards → the default DPP layer for BD mid-size exporters before the 2027–30 phase-in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02920" y="5806440"/>
            <a:ext cx="11155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rgbClr val="E11D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“The last mile of the Digital Product Passport runs through Bangladesh’s factory floor — and it will be walked by its women.”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502920" y="6473952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48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Porichoy (পরিচয়) — Needle Innovation Challenge 3.0 · slide 6/6 · every claim verified, sources on the live Method page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2026-09-12T19:31:43Z</dcterms:created>
  <dcterms:modified xsi:type="dcterms:W3CDTF">2026-09-12T19:31:43Z</dcterms:modified>
</cp:coreProperties>
</file>