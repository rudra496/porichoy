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1B4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1B4B"/>
                </a:solidFill>
                <a:latin typeface="Arial"/>
              </a:rPr>
              <a:t>BDT 650,000 pollination grant — use of funds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Grant allocation (BDT thousands)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11D74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4F46E5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7C3AED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94A3B8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10-factory pilot &amp; steward training (220k)</c:v>
                </c:pt>
                <c:pt idx="1">
                  <c:v>OCR for paper trim cards (180k)</c:v>
                </c:pt>
                <c:pt idx="2">
                  <c:v>Mapping corpus: Bangla + ERP (150k)</c:v>
                </c:pt>
                <c:pt idx="3">
                  <c:v>Legal entity &amp; compliance (100k)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220</c:v>
                </c:pt>
                <c:pt idx="1">
                  <c:v>180</c:v>
                </c:pt>
                <c:pt idx="2">
                  <c:v>150</c:v>
                </c:pt>
                <c:pt idx="3">
                  <c:v>100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1B4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1B4B"/>
                </a:solidFill>
                <a:latin typeface="Arial"/>
              </a:rPr>
              <a:t>Year-1 targets → scale (roadmap targets)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Factories onboarded</c:v>
                </c:pt>
              </c:strCache>
            </c:strRef>
          </c:tx>
          <c:spPr>
            <a:solidFill>
              <a:srgbClr val="4F46E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1B4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 (pilot)</c:v>
                  </c:pt>
                  <c:pt idx="1">
                    <c:v>Year 2 (scale)</c:v>
                  </c:pt>
                  <c:pt idx="2">
                    <c:v>Year 3 (partnerships)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40</c:v>
                </c:pt>
                <c:pt idx="2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Women stewards certified</c:v>
                </c:pt>
              </c:strCache>
            </c:strRef>
          </c:tx>
          <c:spPr>
            <a:solidFill>
              <a:srgbClr val="E11D7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1B4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 (pilot)</c:v>
                  </c:pt>
                  <c:pt idx="1">
                    <c:v>Year 2 (scale)</c:v>
                  </c:pt>
                  <c:pt idx="2">
                    <c:v>Year 3 (partnerships)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20</c:v>
                </c:pt>
                <c:pt idx="1">
                  <c:v>80</c:v>
                </c:pt>
                <c:pt idx="2">
                  <c:v>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1B4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6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_factory_c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71232" y="0"/>
            <a:ext cx="46177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571232" y="0"/>
            <a:ext cx="4617720" cy="6858000"/>
          </a:xfrm>
          <a:prstGeom prst="rect">
            <a:avLst/>
          </a:prstGeom>
          <a:solidFill>
            <a:srgbClr val="1E1B4B">
              <a:alpha val="58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818120" y="605332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RMG FACTORY FLOOR, CHATTOGRAM · PHOTO: S. BISWAS, CC BY-SA 4.0, WIKIMEDIA COMMONS</a:t>
            </a:r>
            <a:endParaRPr lang="en-US" sz="800" dirty="0"/>
          </a:p>
        </p:txBody>
      </p:sp>
      <p:sp>
        <p:nvSpPr>
          <p:cNvPr id="5" name="Shape 2"/>
          <p:cNvSpPr/>
          <p:nvPr/>
        </p:nvSpPr>
        <p:spPr>
          <a:xfrm>
            <a:off x="7882128" y="1051560"/>
            <a:ext cx="3977640" cy="896112"/>
          </a:xfrm>
          <a:prstGeom prst="roundRect">
            <a:avLst>
              <a:gd name="adj" fmla="val 9184"/>
            </a:avLst>
          </a:prstGeom>
          <a:solidFill>
            <a:srgbClr val="1E1B4B">
              <a:alpha val="82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8065008" y="1124712"/>
            <a:ext cx="3657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9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≈4 million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RMG workers, majority women (BGMEA)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7882128" y="2084832"/>
            <a:ext cx="3977640" cy="896112"/>
          </a:xfrm>
          <a:prstGeom prst="roundRect">
            <a:avLst>
              <a:gd name="adj" fmla="val 9184"/>
            </a:avLst>
          </a:prstGeom>
          <a:solidFill>
            <a:srgbClr val="1E1B4B">
              <a:alpha val="82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8065008" y="2157984"/>
            <a:ext cx="3657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9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exporter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RMG — Europe the biggest market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882128" y="3118104"/>
            <a:ext cx="3977640" cy="896112"/>
          </a:xfrm>
          <a:prstGeom prst="roundRect">
            <a:avLst>
              <a:gd name="adj" fmla="val 9184"/>
            </a:avLst>
          </a:prstGeom>
          <a:solidFill>
            <a:srgbClr val="1E1B4B">
              <a:alpha val="82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8065008" y="3191256"/>
            <a:ext cx="3657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9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2027–30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DPP obligations phase in; customs auto-checks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4F46E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প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207008" y="384048"/>
            <a:ext cx="6035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Porichoy </a:t>
            </a:r>
            <a:pPr indent="0" marL="0">
              <a:buNone/>
            </a:pPr>
            <a:r>
              <a:rPr lang="en-US" sz="2400" b="1" dirty="0">
                <a:solidFill>
                  <a:srgbClr val="E11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(পরিচয়)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521208" y="1115568"/>
            <a:ext cx="6675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4B4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DPP-in-a-Box — every garment gets a verifiable identity before the EU’s 2027 wall.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521208" y="193852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11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21208" y="2386584"/>
            <a:ext cx="384048" cy="384048"/>
          </a:xfrm>
          <a:prstGeom prst="ellipse">
            <a:avLst/>
          </a:prstGeom>
          <a:solidFill>
            <a:srgbClr val="4F46E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42416" y="2267712"/>
            <a:ext cx="6263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dated regulatory wall</a:t>
            </a:r>
            <a:endParaRPr lang="en-US" sz="1550" dirty="0"/>
          </a:p>
          <a:p>
            <a:pPr indent="0" marL="0">
              <a:buNone/>
            </a:pPr>
            <a:r>
              <a:rPr lang="en-US" sz="1200" dirty="0">
                <a:solidFill>
                  <a:srgbClr val="4B4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ESPR in force 18 Jul 2024; textiles in the 1st Working Plan (Apr 2025); textile DPP delegated act expected ~2027.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521208" y="3630168"/>
            <a:ext cx="384048" cy="384048"/>
          </a:xfrm>
          <a:prstGeom prst="ellipse">
            <a:avLst/>
          </a:prstGeom>
          <a:solidFill>
            <a:srgbClr val="E11D7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042416" y="3511296"/>
            <a:ext cx="6263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 will auto-check passports</a:t>
            </a:r>
            <a:endParaRPr lang="en-US" sz="1550" dirty="0"/>
          </a:p>
          <a:p>
            <a:pPr indent="0" marL="0">
              <a:buNone/>
            </a:pPr>
            <a:r>
              <a:rPr lang="en-US" sz="1200" dirty="0">
                <a:solidFill>
                  <a:srgbClr val="4B4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customs verify existence &amp; authenticity of DPPs on imported garments — no passport data, no order.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521208" y="4873752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042416" y="4754880"/>
            <a:ext cx="6263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is trapped in chaos</a:t>
            </a:r>
            <a:endParaRPr lang="en-US" sz="1550" dirty="0"/>
          </a:p>
          <a:p>
            <a:pPr indent="0" marL="0">
              <a:buNone/>
            </a:pPr>
            <a:r>
              <a:rPr lang="en-US" sz="1200" dirty="0">
                <a:solidFill>
                  <a:srgbClr val="4B4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records sit in mixed Bangla/English Excels, ERP exports and paper trim cards. Global platforms don’t climb onto the factory floor.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521208" y="594360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product, built &amp; verified:  rudra496.github.io/porichoy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" y="6455664"/>
            <a:ext cx="104973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Porichoy (পরিচয়) · Needle Innovation Challenge 3.0</a:t>
            </a:r>
            <a:pPr indent="0" marL="0">
              <a:buNone/>
            </a:pPr>
            <a:r>
              <a:rPr lang="en-US" sz="9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Sources: European Commission (ESPR) · BGMEA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11137392" y="6455664"/>
            <a:ext cx="5669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11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compliance budget with a deadline — and an empty factory-floor square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31520" y="1627632"/>
            <a:ext cx="10424160" cy="0"/>
          </a:xfrm>
          <a:prstGeom prst="line">
            <a:avLst/>
          </a:prstGeom>
          <a:noFill/>
          <a:ln w="31750">
            <a:solidFill>
              <a:srgbClr val="E5E4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1517904"/>
            <a:ext cx="237744" cy="23774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557784" y="1773936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Jul 2024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B4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 in force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794760" y="1517904"/>
            <a:ext cx="237744" cy="23774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3282696" y="1773936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2025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B4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Working Plan — textiles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19672" y="1517904"/>
            <a:ext cx="237744" cy="237744"/>
          </a:xfrm>
          <a:prstGeom prst="ellipse">
            <a:avLst/>
          </a:prstGeom>
          <a:solidFill>
            <a:srgbClr val="E11D74"/>
          </a:solidFill>
          <a:ln/>
        </p:spPr>
      </p:sp>
      <p:sp>
        <p:nvSpPr>
          <p:cNvPr id="10" name="Text 8"/>
          <p:cNvSpPr/>
          <p:nvPr/>
        </p:nvSpPr>
        <p:spPr>
          <a:xfrm>
            <a:off x="6007608" y="1773936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~2027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B4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Textile delegated act (expected)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244584" y="1517904"/>
            <a:ext cx="237744" cy="237744"/>
          </a:xfrm>
          <a:prstGeom prst="ellipse">
            <a:avLst/>
          </a:prstGeom>
          <a:solidFill>
            <a:srgbClr val="E11D74"/>
          </a:solidFill>
          <a:ln/>
        </p:spPr>
      </p:sp>
      <p:sp>
        <p:nvSpPr>
          <p:cNvPr id="12" name="Text 10"/>
          <p:cNvSpPr/>
          <p:nvPr/>
        </p:nvSpPr>
        <p:spPr>
          <a:xfrm>
            <a:off x="8732520" y="1773936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2027–30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B4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DPP phase-in; customs auto-checks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2606040"/>
            <a:ext cx="3611880" cy="2651760"/>
          </a:xfrm>
          <a:prstGeom prst="roundRect">
            <a:avLst>
              <a:gd name="adj" fmla="val 3448"/>
            </a:avLst>
          </a:prstGeom>
          <a:solidFill>
            <a:srgbClr val="F6F6FB"/>
          </a:solidFill>
          <a:ln w="12700">
            <a:solidFill>
              <a:srgbClr val="E5E4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834640"/>
            <a:ext cx="384048" cy="384048"/>
          </a:xfrm>
          <a:prstGeom prst="ellipse">
            <a:avLst/>
          </a:prstGeom>
          <a:solidFill>
            <a:srgbClr val="E11D7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3310128"/>
            <a:ext cx="31546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Brand-side DPP SaaS</a:t>
            </a:r>
            <a:endParaRPr lang="en-US" sz="1650" dirty="0"/>
          </a:p>
          <a:p>
            <a:pPr indent="0" marL="0">
              <a:buNone/>
            </a:pPr>
            <a:r>
              <a:rPr lang="en-US" sz="1150" b="1" dirty="0">
                <a:solidFill>
                  <a:srgbClr val="E11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TrusTrace · TextileGenesis · Reverse Resources</a:t>
            </a:r>
            <a:endParaRPr lang="en-US" sz="1650" dirty="0"/>
          </a:p>
          <a:p>
            <a:pPr indent="0" marL="0">
              <a:buNone/>
            </a:pPr>
            <a:endParaRPr lang="en-US" sz="1650" dirty="0"/>
          </a:p>
          <a:p>
            <a:pPr indent="0" marL="0">
              <a:buNone/>
            </a:pPr>
            <a:r>
              <a:rPr lang="en-US" sz="1250" dirty="0">
                <a:solidFill>
                  <a:srgbClr val="4B4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Enterprise-priced, English-first, consume clean data. They do NOT capture at the BD factory floor.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4261104" y="2606040"/>
            <a:ext cx="3611880" cy="2651760"/>
          </a:xfrm>
          <a:prstGeom prst="roundRect">
            <a:avLst>
              <a:gd name="adj" fmla="val 3448"/>
            </a:avLst>
          </a:prstGeom>
          <a:solidFill>
            <a:srgbClr val="F6F6FB"/>
          </a:solidFill>
          <a:ln w="12700">
            <a:solidFill>
              <a:srgbClr val="E5E4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9704" y="2834640"/>
            <a:ext cx="384048" cy="384048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489704" y="3310128"/>
            <a:ext cx="31546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Consultancies &amp; audits</a:t>
            </a:r>
            <a:endParaRPr lang="en-US" sz="1650" dirty="0"/>
          </a:p>
          <a:p>
            <a:pPr indent="0" marL="0">
              <a:buNone/>
            </a:pPr>
            <a:r>
              <a:rPr lang="en-US" sz="11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Big-4 / compliance firms</a:t>
            </a:r>
            <a:endParaRPr lang="en-US" sz="1650" dirty="0"/>
          </a:p>
          <a:p>
            <a:pPr indent="0" marL="0">
              <a:buNone/>
            </a:pPr>
            <a:endParaRPr lang="en-US" sz="1650" dirty="0"/>
          </a:p>
          <a:p>
            <a:pPr indent="0" marL="0">
              <a:buNone/>
            </a:pPr>
            <a:r>
              <a:rPr lang="en-US" sz="1250" dirty="0">
                <a:solidFill>
                  <a:srgbClr val="4B4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Expensive, per-visit, no product. Cost recurs; nothing is learned or reused.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8019288" y="2606040"/>
            <a:ext cx="3611880" cy="2651760"/>
          </a:xfrm>
          <a:prstGeom prst="roundRect">
            <a:avLst>
              <a:gd name="adj" fmla="val 3448"/>
            </a:avLst>
          </a:prstGeom>
          <a:solidFill>
            <a:srgbClr val="F6F6FB"/>
          </a:solidFill>
          <a:ln w="12700">
            <a:solidFill>
              <a:srgbClr val="E5E4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47888" y="2834640"/>
            <a:ext cx="384048" cy="384048"/>
          </a:xfrm>
          <a:prstGeom prst="ellipse">
            <a:avLst/>
          </a:prstGeom>
          <a:solidFill>
            <a:srgbClr val="1580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47888" y="3310128"/>
            <a:ext cx="31546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Porichoy’s square</a:t>
            </a:r>
            <a:endParaRPr lang="en-US" sz="16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BD last-mile data engine</a:t>
            </a:r>
            <a:endParaRPr lang="en-US" sz="1650" dirty="0"/>
          </a:p>
          <a:p>
            <a:pPr indent="0" marL="0">
              <a:buNone/>
            </a:pPr>
            <a:endParaRPr lang="en-US" sz="1650" dirty="0"/>
          </a:p>
          <a:p>
            <a:pPr indent="0" marL="0">
              <a:buNone/>
            </a:pPr>
            <a:r>
              <a:rPr lang="en-US" sz="1250" dirty="0">
                <a:solidFill>
                  <a:srgbClr val="4B4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at the factory, speaks Bangla, feeds ANY platform — partner to global players, not a rival.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502920" y="5486400"/>
            <a:ext cx="11201400" cy="713232"/>
          </a:xfrm>
          <a:prstGeom prst="roundRect">
            <a:avLst>
              <a:gd name="adj" fmla="val 11538"/>
            </a:avLst>
          </a:prstGeom>
          <a:solidFill>
            <a:srgbClr val="1E1B4B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559552"/>
            <a:ext cx="10698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9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Beachhead: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 exporters already facing buyer DPP requests → buying houses &amp; certification bodies → integration partnerships with global DPP platforms.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9525">
            <a:solidFill>
              <a:srgbClr val="E5E4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455664"/>
            <a:ext cx="104973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Porichoy (পরিচয়) · Needle Innovation Challenge 3.0</a:t>
            </a:r>
            <a:pPr indent="0" marL="0">
              <a:buNone/>
            </a:pPr>
            <a:r>
              <a:rPr lang="en-US" sz="950" dirty="0">
                <a:solidFill>
                  <a:srgbClr val="9B9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Sources: EC ESPR page (fetched 2026-09-12) · trustrace.com · competitor research verified 2026-08-26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1137392" y="6455664"/>
            <a:ext cx="5669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11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Messy factory files in → buyer-ready passport out, in 90 seconds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1481328"/>
            <a:ext cx="384048" cy="384048"/>
          </a:xfrm>
          <a:prstGeom prst="ellipse">
            <a:avLst/>
          </a:prstGeom>
          <a:solidFill>
            <a:srgbClr val="4F46E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24128" y="1371600"/>
            <a:ext cx="50749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  </a:t>
            </a:r>
            <a:pPr indent="0" marL="0">
              <a:buNone/>
            </a:pPr>
            <a:r>
              <a:rPr lang="en-US" sz="1150" dirty="0">
                <a:solidFill>
                  <a:srgbClr val="4B4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Excel/CSV — every sheet parsed on-device. Nothing leaves the factory (local-first).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21208" y="2514600"/>
            <a:ext cx="384048" cy="384048"/>
          </a:xfrm>
          <a:prstGeom prst="ellipse">
            <a:avLst/>
          </a:prstGeom>
          <a:solidFill>
            <a:srgbClr val="4F46E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24128" y="2404872"/>
            <a:ext cx="50749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  </a:t>
            </a:r>
            <a:pPr indent="0" marL="0">
              <a:buNone/>
            </a:pPr>
            <a:r>
              <a:rPr lang="en-US" sz="1150" dirty="0">
                <a:solidFill>
                  <a:srgbClr val="4B4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reads chaotic Bangla/English headers with confidence scores; the steward confirms. Vocabulary is learned.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21208" y="3547872"/>
            <a:ext cx="384048" cy="384048"/>
          </a:xfrm>
          <a:prstGeom prst="ellipse">
            <a:avLst/>
          </a:prstGeom>
          <a:solidFill>
            <a:srgbClr val="4F46E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24128" y="3438144"/>
            <a:ext cx="50749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  </a:t>
            </a:r>
            <a:pPr indent="0" marL="0">
              <a:buNone/>
            </a:pPr>
            <a:r>
              <a:rPr lang="en-US" sz="1150" dirty="0">
                <a:solidFill>
                  <a:srgbClr val="4B4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DPP Readiness 0–100 per order (weights = ESPR Art. 8 categories) + the exact gap list.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21208" y="4581144"/>
            <a:ext cx="384048" cy="384048"/>
          </a:xfrm>
          <a:prstGeom prst="ellipse">
            <a:avLst/>
          </a:prstGeom>
          <a:solidFill>
            <a:srgbClr val="E11D7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24128" y="4471416"/>
            <a:ext cx="50749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11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   </a:t>
            </a:r>
            <a:pPr indent="0" marL="0">
              <a:buNone/>
            </a:pPr>
            <a:r>
              <a:rPr lang="en-US" sz="1150" dirty="0">
                <a:solidFill>
                  <a:srgbClr val="4B4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→ QR whose link embeds the passport. Scan opens the buyer view on any phone. No backend.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21208" y="5614416"/>
            <a:ext cx="2130552" cy="365760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automated engine tests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79776" y="5614416"/>
            <a:ext cx="2055571" cy="36576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provenance chain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63363" y="5614416"/>
            <a:ext cx="1605686" cy="3657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বাংলা + English UI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697066" y="5614416"/>
            <a:ext cx="1755648" cy="36576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Offline-tolerant PWA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21208" y="6053328"/>
            <a:ext cx="6675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B4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Stewards fix gaps in-place — the score updates instantly and every value joins the hash chain.</a:t>
            </a:r>
            <a:endParaRPr lang="en-US" sz="1050" dirty="0"/>
          </a:p>
        </p:txBody>
      </p:sp>
      <p:pic>
        <p:nvPicPr>
          <p:cNvPr id="17" name="Image 0" descr="shots/porichoy_das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1298448"/>
            <a:ext cx="5257800" cy="3282696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6400800" y="1298448"/>
            <a:ext cx="5257800" cy="3282696"/>
          </a:xfrm>
          <a:prstGeom prst="roundRect">
            <a:avLst>
              <a:gd name="adj" fmla="val 1393"/>
            </a:avLst>
          </a:prstGeom>
          <a:solidFill>
            <a:srgbClr val="FFFFFF">
              <a:alpha val="0"/>
            </a:srgbClr>
          </a:solidFill>
          <a:ln w="12700">
            <a:solidFill>
              <a:srgbClr val="E5E4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0" y="4608576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4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— per-order readiness (sample data)</a:t>
            </a:r>
            <a:endParaRPr lang="en-US" sz="1000" dirty="0"/>
          </a:p>
        </p:txBody>
      </p:sp>
      <p:pic>
        <p:nvPicPr>
          <p:cNvPr id="20" name="Image 1" descr="shots/porichoy_p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00800" y="4919472"/>
            <a:ext cx="2578608" cy="1417320"/>
          </a:xfrm>
          <a:prstGeom prst="rect">
            <a:avLst/>
          </a:prstGeom>
        </p:spPr>
      </p:pic>
      <p:pic>
        <p:nvPicPr>
          <p:cNvPr id="21" name="Image 2" descr="shots/porichoy_evidenc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079992" y="4919472"/>
            <a:ext cx="2578608" cy="1417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00800" y="6345936"/>
            <a:ext cx="5257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4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passport &amp; evidence base (16 Crossref-verified studies)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9525">
            <a:solidFill>
              <a:srgbClr val="E5E4F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02920" y="6455664"/>
            <a:ext cx="104973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Porichoy (পরিচয়) · Needle Innovation Challenge 3.0</a:t>
            </a:r>
            <a:pPr indent="0" marL="0">
              <a:buNone/>
            </a:pPr>
            <a:r>
              <a:rPr lang="en-US" sz="950" dirty="0">
                <a:solidFill>
                  <a:srgbClr val="9B9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All screenshots are the live production app (fetched 2026-09-13) · rudra496.github.io/porichoy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11137392" y="6455664"/>
            <a:ext cx="5669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11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REVENUE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Factories pay little; brands pay to make their suppliers compliant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943600" cy="1170432"/>
          </a:xfrm>
          <a:prstGeom prst="roundRect">
            <a:avLst>
              <a:gd name="adj" fmla="val 7813"/>
            </a:avLst>
          </a:prstGeom>
          <a:solidFill>
            <a:srgbClr val="F6F6FB"/>
          </a:solidFill>
          <a:ln w="12700">
            <a:solidFill>
              <a:srgbClr val="E5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783080"/>
            <a:ext cx="384048" cy="384048"/>
          </a:xfrm>
          <a:prstGeom prst="ellipse">
            <a:avLst/>
          </a:prstGeom>
          <a:solidFill>
            <a:srgbClr val="4F46E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50876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SaaS</a:t>
            </a:r>
            <a:endParaRPr lang="en-US" sz="1550" dirty="0"/>
          </a:p>
          <a:p>
            <a:pPr indent="0" marL="0">
              <a:buNone/>
            </a:pPr>
            <a:r>
              <a:rPr lang="en-US" sz="1200" dirty="0">
                <a:solidFill>
                  <a:srgbClr val="4B4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BDT 2,000–8,000 / month by size — SME-priced, ~10× below enterprise platforms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02920" y="2724912"/>
            <a:ext cx="5943600" cy="1170432"/>
          </a:xfrm>
          <a:prstGeom prst="roundRect">
            <a:avLst>
              <a:gd name="adj" fmla="val 7813"/>
            </a:avLst>
          </a:prstGeom>
          <a:solidFill>
            <a:srgbClr val="F6F6FB"/>
          </a:solidFill>
          <a:ln w="12700">
            <a:solidFill>
              <a:srgbClr val="E5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3090672"/>
            <a:ext cx="384048" cy="384048"/>
          </a:xfrm>
          <a:prstGeom prst="ellipse">
            <a:avLst/>
          </a:prstGeom>
          <a:solidFill>
            <a:srgbClr val="4F46E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2816352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&amp; data-rescue</a:t>
            </a:r>
            <a:endParaRPr lang="en-US" sz="1550" dirty="0"/>
          </a:p>
          <a:p>
            <a:pPr indent="0" marL="0">
              <a:buNone/>
            </a:pPr>
            <a:r>
              <a:rPr lang="en-US" sz="1200" dirty="0">
                <a:solidFill>
                  <a:srgbClr val="4B4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fee: steward training + first ingest + mapping historic files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02920" y="4032504"/>
            <a:ext cx="5943600" cy="1170432"/>
          </a:xfrm>
          <a:prstGeom prst="roundRect">
            <a:avLst>
              <a:gd name="adj" fmla="val 7813"/>
            </a:avLst>
          </a:prstGeom>
          <a:solidFill>
            <a:srgbClr val="F6F6FB"/>
          </a:solidFill>
          <a:ln w="12700">
            <a:solidFill>
              <a:srgbClr val="E5E4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398264"/>
            <a:ext cx="384048" cy="384048"/>
          </a:xfrm>
          <a:prstGeom prst="ellipse">
            <a:avLst/>
          </a:prstGeom>
          <a:solidFill>
            <a:srgbClr val="4F46E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4123944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Brand-funded onboarding</a:t>
            </a:r>
            <a:endParaRPr lang="en-US" sz="1550" dirty="0"/>
          </a:p>
          <a:p>
            <a:pPr indent="0" marL="0">
              <a:buNone/>
            </a:pPr>
            <a:r>
              <a:rPr lang="en-US" sz="1200" dirty="0">
                <a:solidFill>
                  <a:srgbClr val="4B4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pay to onboard their supplier base before 2027 — CAC moves to the party with the money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02920" y="5394960"/>
            <a:ext cx="5943600" cy="841248"/>
          </a:xfrm>
          <a:prstGeom prst="roundRect">
            <a:avLst>
              <a:gd name="adj" fmla="val 9783"/>
            </a:avLst>
          </a:prstGeom>
          <a:solidFill>
            <a:srgbClr val="1E1B4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5468112"/>
            <a:ext cx="54406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9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≈ 2 person-days per factory · software gross margin &gt;80% · replication is a template, not a project.</a:t>
            </a:r>
            <a:endParaRPr lang="en-US" sz="125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629400" y="1371600"/>
          <a:ext cx="50749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Shape 13"/>
          <p:cNvSpPr/>
          <p:nvPr/>
        </p:nvSpPr>
        <p:spPr>
          <a:xfrm>
            <a:off x="6629400" y="4892040"/>
            <a:ext cx="1609344" cy="1298448"/>
          </a:xfrm>
          <a:prstGeom prst="roundRect">
            <a:avLst>
              <a:gd name="adj" fmla="val 6338"/>
            </a:avLst>
          </a:prstGeom>
          <a:solidFill>
            <a:srgbClr val="F6F6FB"/>
          </a:solidFill>
          <a:ln w="12700">
            <a:solidFill>
              <a:srgbClr val="E5E4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720840" y="5029200"/>
            <a:ext cx="142646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1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</a:t>
            </a:r>
            <a:endParaRPr lang="en-US" sz="15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B4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factories · 20 stewards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8385048" y="4892040"/>
            <a:ext cx="1609344" cy="1298448"/>
          </a:xfrm>
          <a:prstGeom prst="roundRect">
            <a:avLst>
              <a:gd name="adj" fmla="val 6338"/>
            </a:avLst>
          </a:prstGeom>
          <a:solidFill>
            <a:srgbClr val="F6F6FB"/>
          </a:solidFill>
          <a:ln w="12700">
            <a:solidFill>
              <a:srgbClr val="E5E4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476488" y="5029200"/>
            <a:ext cx="142646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1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Y2</a:t>
            </a:r>
            <a:endParaRPr lang="en-US" sz="15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B4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factories · buyer channel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10140696" y="4892040"/>
            <a:ext cx="1609344" cy="1298448"/>
          </a:xfrm>
          <a:prstGeom prst="roundRect">
            <a:avLst>
              <a:gd name="adj" fmla="val 6338"/>
            </a:avLst>
          </a:prstGeom>
          <a:solidFill>
            <a:srgbClr val="F6F6FB"/>
          </a:solidFill>
          <a:ln w="12700">
            <a:solidFill>
              <a:srgbClr val="E5E4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232136" y="5029200"/>
            <a:ext cx="142646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1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Y3</a:t>
            </a:r>
            <a:endParaRPr lang="en-US" sz="15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B4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factories · platform integrations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629400" y="462686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path — targets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9525">
            <a:solidFill>
              <a:srgbClr val="E5E4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6455664"/>
            <a:ext cx="104973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Porichoy (পরিচয়) · Needle Innovation Challenge 3.0</a:t>
            </a:r>
            <a:pPr indent="0" marL="0">
              <a:buNone/>
            </a:pPr>
            <a:r>
              <a:rPr lang="en-US" sz="950" dirty="0">
                <a:solidFill>
                  <a:srgbClr val="9B9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Grant allocation sums to BDT 650,000 (challenge maximum) · pricing benchmarks: verified competitor research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11137392" y="6455664"/>
            <a:ext cx="5669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11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builder who ships production systems alone — with the right domain</a:t>
            </a:r>
            <a:endParaRPr lang="en-US" sz="2500" dirty="0"/>
          </a:p>
        </p:txBody>
      </p:sp>
      <p:pic>
        <p:nvPicPr>
          <p:cNvPr id="4" name="Image 0" descr="rudra_cv_pho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1737360" cy="1737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417320"/>
            <a:ext cx="1737360" cy="1737360"/>
          </a:xfrm>
          <a:prstGeom prst="roundRect">
            <a:avLst>
              <a:gd name="adj" fmla="val 4211"/>
            </a:avLst>
          </a:prstGeom>
          <a:solidFill>
            <a:srgbClr val="FFFFFF">
              <a:alpha val="0"/>
            </a:srgbClr>
          </a:solidFill>
          <a:ln w="19050">
            <a:solidFill>
              <a:srgbClr val="E5E4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395728" y="1417320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Rudra Sarker</a:t>
            </a:r>
            <a:endParaRPr lang="en-US" sz="21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11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Engineer</a:t>
            </a:r>
            <a:endParaRPr lang="en-US" sz="2100" dirty="0"/>
          </a:p>
          <a:p>
            <a:pPr indent="0" marL="0">
              <a:buNone/>
            </a:pPr>
            <a:r>
              <a:rPr lang="en-US" sz="1150" dirty="0">
                <a:solidFill>
                  <a:srgbClr val="4B4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Final-year B.Sc. Industrial &amp; Production Engineering, SUST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journal article (J. Ethnopharmacology, 2026, 3rd author) · full-time on Porichoy · ready for both residential bootcamps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502920" y="3401568"/>
            <a:ext cx="5943600" cy="841248"/>
          </a:xfrm>
          <a:prstGeom prst="roundRect">
            <a:avLst>
              <a:gd name="adj" fmla="val 9783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3474720"/>
            <a:ext cx="55321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me for THIS product: </a:t>
            </a:r>
            <a:pPr indent="0" marL="0">
              <a:buNone/>
            </a:pPr>
            <a:r>
              <a:rPr lang="en-US" sz="1200" dirty="0">
                <a:solidFill>
                  <a:srgbClr val="4B4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factory-process engineering (IPE) + production LLM pipelines + a proven 3-week ship velocity — exactly Porichoy’s stack.</a:t>
            </a:r>
            <a:endParaRPr lang="en-US" sz="1200" dirty="0"/>
          </a:p>
        </p:txBody>
      </p:sp>
      <p:pic>
        <p:nvPicPr>
          <p:cNvPr id="9" name="Image 1" descr="shots/adalatai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75120" y="1371600"/>
            <a:ext cx="2450592" cy="1536192"/>
          </a:xfrm>
          <a:prstGeom prst="rect">
            <a:avLst/>
          </a:prstGeom>
        </p:spPr>
      </p:pic>
      <p:pic>
        <p:nvPicPr>
          <p:cNvPr id="10" name="Image 2" descr="shots/jolsetu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253728" y="1371600"/>
            <a:ext cx="2450592" cy="15361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75120" y="2926080"/>
            <a:ext cx="2450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4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AdalatAI — court AI, F1 0.963</a:t>
            </a: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9253728" y="2926080"/>
            <a:ext cx="2450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4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JolSetu — 6,593-well live map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6675120" y="3246120"/>
            <a:ext cx="2450592" cy="969264"/>
          </a:xfrm>
          <a:prstGeom prst="roundRect">
            <a:avLst>
              <a:gd name="adj" fmla="val 7547"/>
            </a:avLst>
          </a:prstGeom>
          <a:solidFill>
            <a:srgbClr val="F6F6FB"/>
          </a:solidFill>
          <a:ln w="12700">
            <a:solidFill>
              <a:srgbClr val="E5E4F0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784848" y="3310128"/>
            <a:ext cx="223113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RippleUp</a:t>
            </a:r>
            <a:endParaRPr lang="en-US" sz="1150" dirty="0"/>
          </a:p>
          <a:p>
            <a:pPr indent="0" marL="0">
              <a:buNone/>
            </a:pPr>
            <a:r>
              <a:rPr lang="en-US" sz="900" dirty="0">
                <a:solidFill>
                  <a:srgbClr val="4B4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Android + Windows desktop app (Compose), release v5.3.3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9253728" y="3246120"/>
            <a:ext cx="2450592" cy="969264"/>
          </a:xfrm>
          <a:prstGeom prst="roundRect">
            <a:avLst>
              <a:gd name="adj" fmla="val 7547"/>
            </a:avLst>
          </a:prstGeom>
          <a:solidFill>
            <a:srgbClr val="F6F6FB"/>
          </a:solidFill>
          <a:ln w="12700">
            <a:solidFill>
              <a:srgbClr val="E5E4F0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9363456" y="3310128"/>
            <a:ext cx="223113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StealthHumanizer</a:t>
            </a:r>
            <a:endParaRPr lang="en-US" sz="1150" dirty="0"/>
          </a:p>
          <a:p>
            <a:pPr indent="0" marL="0">
              <a:buNone/>
            </a:pPr>
            <a:r>
              <a:rPr lang="en-US" sz="900" dirty="0">
                <a:solidFill>
                  <a:srgbClr val="4B4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Self-trained LLM system on a VPS, ~45s/request at production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6675120" y="4261104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4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systems (live screenshots, left to right)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02920" y="4617720"/>
            <a:ext cx="11201400" cy="1572768"/>
          </a:xfrm>
          <a:prstGeom prst="roundRect">
            <a:avLst>
              <a:gd name="adj" fmla="val 5814"/>
            </a:avLst>
          </a:prstGeom>
          <a:solidFill>
            <a:srgbClr val="1E1B4B"/>
          </a:solidFill>
          <a:ln/>
        </p:spPr>
      </p:sp>
      <p:sp>
        <p:nvSpPr>
          <p:cNvPr id="19" name="Text 14"/>
          <p:cNvSpPr/>
          <p:nvPr/>
        </p:nvSpPr>
        <p:spPr>
          <a:xfrm>
            <a:off x="777240" y="4773168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9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ASK FROM NIC 3.0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777240" y="5084064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pollination grant to fund the 10-factory pilot   ·   bootcamp mentoring on RMG business models &amp; circularity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intros: 2–3 pilot factories + one buyer sustainability team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9525">
            <a:solidFill>
              <a:srgbClr val="E5E4F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02920" y="6455664"/>
            <a:ext cx="104973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Porichoy (পরিচয়) · Needle Innovation Challenge 3.0</a:t>
            </a:r>
            <a:pPr indent="0" marL="0">
              <a:buNone/>
            </a:pPr>
            <a:r>
              <a:rPr lang="en-US" sz="950" dirty="0">
                <a:solidFill>
                  <a:srgbClr val="9B9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All listed systems are live productions · CV attached (FlowCV)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11137392" y="6455664"/>
            <a:ext cx="5669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_wome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397764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1E1B4B">
              <a:alpha val="54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320040" y="457200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AT THE CENTER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320040" y="786384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in from the first commit — not bolted on.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20040" y="1627632"/>
            <a:ext cx="3364992" cy="1133856"/>
          </a:xfrm>
          <a:prstGeom prst="roundRect">
            <a:avLst>
              <a:gd name="adj" fmla="val 7258"/>
            </a:avLst>
          </a:prstGeom>
          <a:solidFill>
            <a:srgbClr val="1E1B4B">
              <a:alpha val="78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75488" y="1700784"/>
            <a:ext cx="30632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SKILLED JOBS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women operators per factory trained &amp; certified as DPP Data Stewards — formal, higher-skilled back-office roles.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" y="2871216"/>
            <a:ext cx="3364992" cy="1133856"/>
          </a:xfrm>
          <a:prstGeom prst="roundRect">
            <a:avLst>
              <a:gd name="adj" fmla="val 7258"/>
            </a:avLst>
          </a:prstGeom>
          <a:solidFill>
            <a:srgbClr val="1E1B4B">
              <a:alpha val="7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75488" y="2944368"/>
            <a:ext cx="30632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PROTECTED AT SCALE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Auto-checked EU customs mean non-compliant factories lose orders; compliance protects a majority-women workforce.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" y="4114800"/>
            <a:ext cx="3364992" cy="1133856"/>
          </a:xfrm>
          <a:prstGeom prst="roundRect">
            <a:avLst>
              <a:gd name="adj" fmla="val 7258"/>
            </a:avLst>
          </a:prstGeom>
          <a:solidFill>
            <a:srgbClr val="1E1B4B">
              <a:alpha val="78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475488" y="4187952"/>
            <a:ext cx="30632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BURDEN → CAREER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 clerical compliance work — often by women staff — becomes a titled, certified, visible career path.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20040" y="53949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last mile of the Digital Product Passport runs through Bangladesh’s factory floor — and it will be walked by its women.”</a:t>
            </a:r>
            <a:endParaRPr lang="en-US" sz="11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4343400" y="566928"/>
          <a:ext cx="73152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10"/>
          <p:cNvSpPr/>
          <p:nvPr/>
        </p:nvSpPr>
        <p:spPr>
          <a:xfrm>
            <a:off x="4343400" y="33832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 — all Crossref-verified 2026-09-13 (full 16 in the accompanying report)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343400" y="3657600"/>
            <a:ext cx="7315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4B4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EU Regulation 2024/1781 (ESPR), in force 18 Jul 2024 — European Commission, ESPR page.</a:t>
            </a:r>
            <a:endParaRPr lang="en-US" sz="9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4B4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The Digital Product Passport of the Ecodesign Regulation — Business Law Review (2024). DOI 10.54648/bula2024009</a:t>
            </a:r>
            <a:endParaRPr lang="en-US" sz="9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4B4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Digital Product Passport for Circular Economy: a review — Circular Economy &amp; Sustainability (2026). DOI 10.1007/s43615-026-01000-3</a:t>
            </a:r>
            <a:endParaRPr lang="en-US" sz="9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4B4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Blockchain-enabled supply-chain traceability in textile &amp; apparel — Sustainability (2021). DOI 10.3390/su131910496</a:t>
            </a:r>
            <a:endParaRPr lang="en-US" sz="9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4B4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Reclaiming waste: informal circularity in Bangladesh — Circ. Econ. &amp; Sustainability (2026). DOI 10.1007/s43615-026-00844-z</a:t>
            </a:r>
            <a:endParaRPr lang="en-US" sz="9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4B4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Open burning of polyester/cotton textile waste — Env. Science &amp; Pollution Research (2026). DOI 10.1007/s11356-026-37563-9</a:t>
            </a:r>
            <a:endParaRPr lang="en-US" sz="9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4B4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Social compliance in the RMG industry — Journal of Business Studies, SUST (2023). DOI 10.58753/jbspust.4.1.2023.21</a:t>
            </a:r>
            <a:endParaRPr lang="en-US" sz="9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4B4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OECD — Due diligence in garments &amp; footwear. DOI 10.1787/df7dc9d4-en · Photos: Wikimedia Commons, CC BY/BY-SA (artists credited in report).</a:t>
            </a:r>
            <a:endParaRPr lang="en-US" sz="930" dirty="0"/>
          </a:p>
        </p:txBody>
      </p:sp>
      <p:sp>
        <p:nvSpPr>
          <p:cNvPr id="16" name="Shape 12"/>
          <p:cNvSpPr/>
          <p:nvPr/>
        </p:nvSpPr>
        <p:spPr>
          <a:xfrm>
            <a:off x="4343400" y="5870448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526280" y="5916168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</a:t>
            </a:r>
            <a:pPr indent="0" marL="0">
              <a:buNone/>
            </a:pPr>
            <a:r>
              <a:rPr lang="en-US" sz="1150" dirty="0">
                <a:solidFill>
                  <a:srgbClr val="4B4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rudra496.github.io/porichoy · repo rudra496/porichoy · 19/19 engine tests · evidence page with all 16 DOIs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320040" y="645566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PHOTO: CC BY 2.0, WIKIMEDIA COMMONS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4343400" y="6419088"/>
            <a:ext cx="7342632" cy="0"/>
          </a:xfrm>
          <a:prstGeom prst="line">
            <a:avLst/>
          </a:prstGeom>
          <a:noFill/>
          <a:ln w="9525">
            <a:solidFill>
              <a:srgbClr val="E5E4F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343400" y="6455664"/>
            <a:ext cx="66568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Porichoy (পরিচয়) · Needle Innovation Challenge 3.0</a:t>
            </a:r>
            <a:pPr indent="0" marL="0">
              <a:buNone/>
            </a:pP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11137392" y="6455664"/>
            <a:ext cx="5669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Porichoy - DPP-in-a-Box | Needle Innovation Challenge 3.0</dc:title>
  <dc:subject>Factory-side EU Digital Product Passports for Bangladesh RMG, powered by women data stewards</dc:subject>
  <dc:creator>Rudra Sarker</dc:creator>
  <cp:lastModifiedBy>PptxGenJS</cp:lastModifiedBy>
  <cp:revision>1</cp:revision>
  <dcterms:created xsi:type="dcterms:W3CDTF">2026-09-12T22:10:23Z</dcterms:created>
  <dcterms:modified xsi:type="dcterms:W3CDTF">2026-09-12T22:10:23Z</dcterms:modified>
  <cp:keywords>DPP; ESPR; traceability; Bangladesh RMG; women; NIC 3.0</cp:keywords>
  <dc:description>All claims verified (Crossref 2026-09-13, EC ESPR, BGMEA). Live app: rudra496.github.io/porichoy</dc:description>
</cp:coreProperties>
</file>